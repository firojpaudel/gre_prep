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32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4" autoAdjust="0"/>
    <p:restoredTop sz="94638" autoAdjust="0"/>
  </p:normalViewPr>
  <p:slideViewPr>
    <p:cSldViewPr>
      <p:cViewPr varScale="1">
        <p:scale>
          <a:sx n="86" d="100"/>
          <a:sy n="86" d="100"/>
        </p:scale>
        <p:origin x="-10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55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8C61D5B6-6B01-429A-ABF4-FEAFB945272B}" type="datetimeFigureOut">
              <a:rPr lang="en-US" smtClean="0"/>
              <a:pPr/>
              <a:t>3/22/2017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211FCC52-403C-4641-ABAF-123D93946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Tm="2000">
    <p:wheel spokes="2"/>
  </p:transition>
  <p:timing>
    <p:tnLst>
      <p:par>
        <p:cTn id="1" dur="indefinite" restart="never" nodeType="tmRoot"/>
      </p:par>
    </p:tnLst>
  </p:timing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earnersdictionary.com/search/sympath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earnersdictionary.com/search/covert" TargetMode="External"/><Relationship Id="rId2" Type="http://schemas.openxmlformats.org/officeDocument/2006/relationships/hyperlink" Target="http://www.learnersdictionary.com/search/obviou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earnersdictionary.com/search/inarticulate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earnersdictionary.com/search/hank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Credibility</a:t>
            </a:r>
            <a:r>
              <a:rPr lang="en-US" sz="7200" dirty="0"/>
              <a:t> </a:t>
            </a:r>
            <a:r>
              <a:rPr lang="en-US" dirty="0"/>
              <a:t>/ </a:t>
            </a:r>
            <a:r>
              <a:rPr lang="en-US" sz="2000" b="1" dirty="0"/>
              <a:t>noun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[</a:t>
            </a:r>
            <a:r>
              <a:rPr lang="en-US" i="1" dirty="0" err="1"/>
              <a:t>noncount</a:t>
            </a:r>
            <a:r>
              <a:rPr lang="en-US" dirty="0"/>
              <a:t>] </a:t>
            </a:r>
            <a:r>
              <a:rPr lang="en-US" b="1" dirty="0"/>
              <a:t>:</a:t>
            </a:r>
            <a:r>
              <a:rPr lang="en-US" dirty="0"/>
              <a:t> the quality of being believed or accepted as true, real, or honest </a:t>
            </a:r>
            <a:br>
              <a:rPr lang="en-US" dirty="0"/>
            </a:br>
            <a:r>
              <a:rPr lang="en-US" dirty="0"/>
              <a:t>▪ The new evidence lends </a:t>
            </a:r>
            <a:r>
              <a:rPr lang="en-US" i="1" dirty="0"/>
              <a:t>credibility</a:t>
            </a:r>
            <a:r>
              <a:rPr lang="en-US" dirty="0"/>
              <a:t> to their theory. ▪ a lack/loss of </a:t>
            </a:r>
            <a:r>
              <a:rPr lang="en-US" i="1" dirty="0"/>
              <a:t>credibility</a:t>
            </a:r>
            <a:r>
              <a:rPr lang="en-US" dirty="0"/>
              <a:t> ▪ The scandal undermined/damaged her </a:t>
            </a:r>
            <a:r>
              <a:rPr lang="en-US" i="1" dirty="0"/>
              <a:t>credibility</a:t>
            </a:r>
            <a:r>
              <a:rPr lang="en-US" dirty="0"/>
              <a:t> as an honest politician. ▪ In this instance, the lawyer's job is to make the jury doubt/question the witness's </a:t>
            </a:r>
            <a:r>
              <a:rPr lang="en-US" i="1" dirty="0"/>
              <a:t>credibility</a:t>
            </a:r>
            <a:r>
              <a:rPr lang="en-US" dirty="0"/>
              <a:t>. ▪ They doubted the </a:t>
            </a:r>
            <a:r>
              <a:rPr lang="en-US" i="1" dirty="0"/>
              <a:t>credibility</a:t>
            </a:r>
            <a:r>
              <a:rPr lang="en-US" dirty="0"/>
              <a:t> of the witness's story. [=they doubted that the story was true]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>invective</a:t>
            </a:r>
            <a:r>
              <a:rPr lang="en-US" sz="9800" dirty="0" smtClean="0"/>
              <a:t> </a:t>
            </a:r>
            <a:r>
              <a:rPr lang="en-US" dirty="0"/>
              <a:t>/</a:t>
            </a:r>
            <a:r>
              <a:rPr lang="en-US" sz="3100" dirty="0"/>
              <a:t> </a:t>
            </a:r>
            <a:r>
              <a:rPr lang="en-US" sz="3100" b="1" dirty="0"/>
              <a:t>noun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</a:t>
            </a:r>
            <a:r>
              <a:rPr lang="en-US" i="1" dirty="0" err="1" smtClean="0"/>
              <a:t>noncount</a:t>
            </a:r>
            <a:r>
              <a:rPr lang="en-US" dirty="0" smtClean="0"/>
              <a:t>] </a:t>
            </a:r>
            <a:r>
              <a:rPr lang="en-US" i="1" dirty="0" smtClean="0"/>
              <a:t>formal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harsh or insulting words </a:t>
            </a:r>
            <a:r>
              <a:rPr lang="en-US" b="1" dirty="0" smtClean="0"/>
              <a:t>:</a:t>
            </a:r>
            <a:r>
              <a:rPr lang="en-US" dirty="0" smtClean="0"/>
              <a:t> rude and angry language </a:t>
            </a:r>
            <a:br>
              <a:rPr lang="en-US" dirty="0" smtClean="0"/>
            </a:br>
            <a:r>
              <a:rPr lang="en-US" dirty="0" smtClean="0"/>
              <a:t>▪ a barrage/stream of racist </a:t>
            </a:r>
            <a:r>
              <a:rPr lang="en-US" i="1" dirty="0" smtClean="0"/>
              <a:t>invective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>Outrage</a:t>
            </a:r>
            <a:r>
              <a:rPr lang="en-US" sz="9800" dirty="0" smtClean="0"/>
              <a:t> </a:t>
            </a:r>
            <a:r>
              <a:rPr lang="en-US" dirty="0"/>
              <a:t>/ </a:t>
            </a:r>
            <a:r>
              <a:rPr lang="en-US" sz="2700" b="1" dirty="0" smtClean="0"/>
              <a:t>noun </a:t>
            </a:r>
            <a:r>
              <a:rPr lang="en-US" sz="2700" i="1" dirty="0"/>
              <a:t>plural</a:t>
            </a:r>
            <a:r>
              <a:rPr lang="en-US" sz="2700" dirty="0"/>
              <a:t> </a:t>
            </a:r>
            <a:r>
              <a:rPr lang="en-US" sz="2700" b="1" dirty="0"/>
              <a:t>outrages</a:t>
            </a:r>
            <a:r>
              <a:rPr lang="en-US" sz="2700" dirty="0"/>
              <a:t/>
            </a:r>
            <a:br>
              <a:rPr lang="en-US" sz="27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</a:t>
            </a:r>
            <a:r>
              <a:rPr lang="en-US" dirty="0"/>
              <a:t> [</a:t>
            </a:r>
            <a:r>
              <a:rPr lang="en-US" i="1" dirty="0" err="1"/>
              <a:t>noncount</a:t>
            </a:r>
            <a:r>
              <a:rPr lang="en-US" dirty="0"/>
              <a:t>] </a:t>
            </a:r>
            <a:r>
              <a:rPr lang="en-US" b="1" dirty="0"/>
              <a:t>:</a:t>
            </a:r>
            <a:r>
              <a:rPr lang="en-US" dirty="0"/>
              <a:t> extreme anger </a:t>
            </a:r>
            <a:r>
              <a:rPr lang="en-US" b="1" dirty="0"/>
              <a:t>:</a:t>
            </a:r>
            <a:r>
              <a:rPr lang="en-US" dirty="0"/>
              <a:t> a strong feeling of unhappiness because of something bad, hurtful, or morally wrong </a:t>
            </a:r>
            <a:br>
              <a:rPr lang="en-US" dirty="0"/>
            </a:br>
            <a:r>
              <a:rPr lang="en-US" dirty="0"/>
              <a:t>▪ Many people expressed </a:t>
            </a:r>
            <a:r>
              <a:rPr lang="en-US" i="1" dirty="0"/>
              <a:t>outrage</a:t>
            </a:r>
            <a:r>
              <a:rPr lang="en-US" dirty="0"/>
              <a:t> at the court's decision. ▪ Public </a:t>
            </a:r>
            <a:r>
              <a:rPr lang="en-US" i="1" dirty="0"/>
              <a:t>outrage</a:t>
            </a:r>
            <a:r>
              <a:rPr lang="en-US" dirty="0"/>
              <a:t> over the scandal was great. ▪moral </a:t>
            </a:r>
            <a:r>
              <a:rPr lang="en-US" i="1" dirty="0"/>
              <a:t>outrage</a:t>
            </a:r>
            <a:endParaRPr lang="en-US" dirty="0"/>
          </a:p>
          <a:p>
            <a:r>
              <a:rPr lang="en-US" b="1" dirty="0"/>
              <a:t>2</a:t>
            </a:r>
            <a:r>
              <a:rPr lang="en-US" dirty="0"/>
              <a:t> [</a:t>
            </a:r>
            <a:r>
              <a:rPr lang="en-US" i="1" dirty="0"/>
              <a:t>count</a:t>
            </a:r>
            <a:r>
              <a:rPr lang="en-US" dirty="0"/>
              <a:t>] </a:t>
            </a:r>
            <a:r>
              <a:rPr lang="en-US" b="1" dirty="0"/>
              <a:t>:</a:t>
            </a:r>
            <a:r>
              <a:rPr lang="en-US" dirty="0"/>
              <a:t> something that hurts people or is morally wrong </a:t>
            </a:r>
            <a:br>
              <a:rPr lang="en-US" dirty="0"/>
            </a:br>
            <a:r>
              <a:rPr lang="en-US" dirty="0"/>
              <a:t>▪ The rule is an </a:t>
            </a:r>
            <a:r>
              <a:rPr lang="en-US" i="1" dirty="0"/>
              <a:t>outrage</a:t>
            </a:r>
            <a:r>
              <a:rPr lang="en-US" dirty="0"/>
              <a:t> against women. ▪ This is an </a:t>
            </a:r>
            <a:r>
              <a:rPr lang="en-US" i="1" dirty="0"/>
              <a:t>outrage</a:t>
            </a:r>
            <a:r>
              <a:rPr lang="en-US" dirty="0"/>
              <a:t>! I won't allow this kind of behavior to continue.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>Empathy</a:t>
            </a:r>
            <a:r>
              <a:rPr lang="en-US" sz="7300" dirty="0" smtClean="0"/>
              <a:t> </a:t>
            </a:r>
            <a:r>
              <a:rPr lang="en-US" dirty="0"/>
              <a:t>/ </a:t>
            </a:r>
            <a:r>
              <a:rPr lang="en-US" sz="3600" dirty="0"/>
              <a:t>noun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[</a:t>
            </a:r>
            <a:r>
              <a:rPr lang="en-US" i="1" dirty="0" err="1"/>
              <a:t>noncount</a:t>
            </a:r>
            <a:r>
              <a:rPr lang="en-US" dirty="0"/>
              <a:t>] </a:t>
            </a:r>
            <a:r>
              <a:rPr lang="en-US" b="1" dirty="0"/>
              <a:t>:</a:t>
            </a:r>
            <a:r>
              <a:rPr lang="en-US" dirty="0"/>
              <a:t> the feeling that you understand and share another person's experiences and emotions </a:t>
            </a:r>
            <a:br>
              <a:rPr lang="en-US" dirty="0"/>
            </a:br>
            <a:r>
              <a:rPr lang="en-US" dirty="0"/>
              <a:t>▪ He felt great </a:t>
            </a:r>
            <a:r>
              <a:rPr lang="en-US" i="1" dirty="0"/>
              <a:t>empathy</a:t>
            </a:r>
            <a:r>
              <a:rPr lang="en-US" dirty="0"/>
              <a:t> with/for/toward the poor. </a:t>
            </a:r>
            <a:r>
              <a:rPr lang="en-US" b="1" dirty="0"/>
              <a:t>:</a:t>
            </a:r>
            <a:r>
              <a:rPr lang="en-US" dirty="0"/>
              <a:t> the ability to share someone else's feelings ▪ His months spent researching prison life gave him greater </a:t>
            </a:r>
            <a:r>
              <a:rPr lang="en-US" i="1" dirty="0"/>
              <a:t>empathy</a:t>
            </a:r>
            <a:r>
              <a:rPr lang="en-US" dirty="0"/>
              <a:t> towards/for convicts. — compare</a:t>
            </a:r>
            <a:r>
              <a:rPr lang="en-US" cap="small" dirty="0">
                <a:hlinkClick r:id="rId2"/>
              </a:rPr>
              <a:t>s </a:t>
            </a:r>
            <a:r>
              <a:rPr lang="en-US" cap="small" dirty="0" err="1">
                <a:hlinkClick r:id="rId2"/>
              </a:rPr>
              <a:t>ympathy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>Prototype</a:t>
            </a:r>
            <a:r>
              <a:rPr lang="en-US" sz="8000" dirty="0" smtClean="0"/>
              <a:t> </a:t>
            </a:r>
            <a:r>
              <a:rPr lang="en-US" dirty="0"/>
              <a:t>/ </a:t>
            </a:r>
            <a:r>
              <a:rPr lang="en-US" sz="2700" b="1" dirty="0"/>
              <a:t>noun</a:t>
            </a:r>
            <a:r>
              <a:rPr lang="en-US" sz="2700" dirty="0"/>
              <a:t/>
            </a:r>
            <a:br>
              <a:rPr lang="en-US" sz="2700" dirty="0"/>
            </a:br>
            <a:r>
              <a:rPr lang="en-US" sz="2700" dirty="0"/>
              <a:t/>
            </a:r>
            <a:br>
              <a:rPr lang="en-US" sz="27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plural</a:t>
            </a:r>
            <a:r>
              <a:rPr lang="en-US" dirty="0" smtClean="0"/>
              <a:t> </a:t>
            </a:r>
            <a:r>
              <a:rPr lang="en-US" b="1" dirty="0" smtClean="0"/>
              <a:t>prototypes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[</a:t>
            </a:r>
            <a:r>
              <a:rPr lang="en-US" i="1" dirty="0"/>
              <a:t>count</a:t>
            </a:r>
            <a:r>
              <a:rPr lang="en-US" dirty="0"/>
              <a:t>] </a:t>
            </a:r>
            <a:r>
              <a:rPr lang="en-US" b="1" dirty="0"/>
              <a:t>1</a:t>
            </a:r>
            <a:r>
              <a:rPr lang="en-US" dirty="0"/>
              <a:t> </a:t>
            </a:r>
            <a:r>
              <a:rPr lang="en-US" b="1" dirty="0"/>
              <a:t>:</a:t>
            </a:r>
            <a:r>
              <a:rPr lang="en-US" dirty="0"/>
              <a:t> an original or first model of something from which other forms are copied or developed </a:t>
            </a:r>
            <a:br>
              <a:rPr lang="en-US" dirty="0"/>
            </a:br>
            <a:r>
              <a:rPr lang="en-US" dirty="0"/>
              <a:t>▪ They tested the </a:t>
            </a:r>
            <a:r>
              <a:rPr lang="en-US" i="1" dirty="0"/>
              <a:t>prototype</a:t>
            </a:r>
            <a:r>
              <a:rPr lang="en-US" dirty="0"/>
              <a:t> of the car. ▪ He is developing a </a:t>
            </a:r>
            <a:r>
              <a:rPr lang="en-US" i="1" dirty="0"/>
              <a:t>prototype</a:t>
            </a:r>
            <a:r>
              <a:rPr lang="en-US" dirty="0"/>
              <a:t> for his invention.</a:t>
            </a:r>
          </a:p>
          <a:p>
            <a:r>
              <a:rPr lang="en-US" b="1" dirty="0"/>
              <a:t>2 a</a:t>
            </a:r>
            <a:r>
              <a:rPr lang="en-US" dirty="0"/>
              <a:t> </a:t>
            </a:r>
            <a:r>
              <a:rPr lang="en-US" b="1" dirty="0"/>
              <a:t>:</a:t>
            </a:r>
            <a:r>
              <a:rPr lang="en-US" dirty="0"/>
              <a:t> someone or something that has the typical qualities of a particular group, kind, etc. </a:t>
            </a:r>
            <a:br>
              <a:rPr lang="en-US" dirty="0"/>
            </a:br>
            <a:r>
              <a:rPr lang="en-US" dirty="0"/>
              <a:t>▪ He is the </a:t>
            </a:r>
            <a:r>
              <a:rPr lang="en-US" i="1" dirty="0"/>
              <a:t>prototype</a:t>
            </a:r>
            <a:r>
              <a:rPr lang="en-US" dirty="0"/>
              <a:t> of a conservative businessman. </a:t>
            </a:r>
            <a:br>
              <a:rPr lang="en-US" dirty="0"/>
            </a:br>
            <a:r>
              <a:rPr lang="en-US" b="1" dirty="0"/>
              <a:t>b</a:t>
            </a:r>
            <a:r>
              <a:rPr lang="en-US" dirty="0"/>
              <a:t> </a:t>
            </a:r>
            <a:r>
              <a:rPr lang="en-US" b="1" dirty="0"/>
              <a:t>:</a:t>
            </a:r>
            <a:r>
              <a:rPr lang="en-US" dirty="0"/>
              <a:t> a first or early example that is used as a model for what comes later </a:t>
            </a:r>
            <a:br>
              <a:rPr lang="en-US" dirty="0"/>
            </a:br>
            <a:r>
              <a:rPr lang="en-US" dirty="0"/>
              <a:t>▪ The Sherlock Holmes stories are the </a:t>
            </a:r>
            <a:r>
              <a:rPr lang="en-US" i="1" dirty="0"/>
              <a:t>prototypes</a:t>
            </a:r>
            <a:r>
              <a:rPr lang="en-US" dirty="0"/>
              <a:t> of modern detective stories.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>Disclaimer</a:t>
            </a:r>
            <a:r>
              <a:rPr lang="en-US" sz="8000" dirty="0"/>
              <a:t> </a:t>
            </a:r>
            <a:r>
              <a:rPr lang="en-US" dirty="0"/>
              <a:t> /</a:t>
            </a:r>
            <a:r>
              <a:rPr lang="en-US"/>
              <a:t> </a:t>
            </a:r>
            <a:r>
              <a:rPr lang="en-US" sz="3100" b="1" smtClean="0"/>
              <a:t>noun </a:t>
            </a:r>
            <a:r>
              <a:rPr lang="en-US" sz="3100" i="1" smtClean="0"/>
              <a:t>plural</a:t>
            </a:r>
            <a:r>
              <a:rPr lang="en-US" sz="3100" smtClean="0"/>
              <a:t> </a:t>
            </a:r>
            <a:r>
              <a:rPr lang="en-US" sz="3100" b="1" smtClean="0"/>
              <a:t>disclaimers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[</a:t>
            </a:r>
            <a:r>
              <a:rPr lang="en-US" i="1" dirty="0"/>
              <a:t>count</a:t>
            </a:r>
            <a:r>
              <a:rPr lang="en-US" dirty="0"/>
              <a:t>] </a:t>
            </a:r>
            <a:r>
              <a:rPr lang="en-US" b="1" dirty="0"/>
              <a:t>:</a:t>
            </a:r>
            <a:r>
              <a:rPr lang="en-US" dirty="0"/>
              <a:t> a statement that is meant to prevent an incorrect understanding of something (such as a book, a movie, or an advertisement) </a:t>
            </a:r>
            <a:br>
              <a:rPr lang="en-US" dirty="0"/>
            </a:br>
            <a:r>
              <a:rPr lang="en-US" dirty="0"/>
              <a:t>▪ The documentary opens with a </a:t>
            </a:r>
            <a:r>
              <a:rPr lang="en-US" i="1" dirty="0"/>
              <a:t>disclaimer</a:t>
            </a:r>
            <a:r>
              <a:rPr lang="en-US" dirty="0"/>
              <a:t> that many of its scenes are “fictional re-creations” of real events.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/>
            </a:r>
            <a:br>
              <a:rPr lang="en-US" sz="9800" b="1" dirty="0" smtClean="0"/>
            </a:br>
            <a:r>
              <a:rPr lang="en-US" sz="9800" b="1" dirty="0" smtClean="0"/>
              <a:t>Catharsis</a:t>
            </a:r>
            <a:r>
              <a:rPr lang="en-US" dirty="0" smtClean="0"/>
              <a:t> </a:t>
            </a:r>
            <a:r>
              <a:rPr lang="en-US" dirty="0"/>
              <a:t>/ </a:t>
            </a:r>
            <a:r>
              <a:rPr lang="en-US" sz="3100" dirty="0"/>
              <a:t>noun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postulates; postulated; postulating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formal</a:t>
            </a:r>
            <a:r>
              <a:rPr lang="en-US" dirty="0"/>
              <a:t> </a:t>
            </a:r>
            <a:r>
              <a:rPr lang="en-US" b="1" dirty="0"/>
              <a:t>:</a:t>
            </a:r>
            <a:r>
              <a:rPr lang="en-US" dirty="0"/>
              <a:t> the act or process of releasing a strong emotion (such as pity or fear) especially by expressing it in an art form [</a:t>
            </a:r>
            <a:r>
              <a:rPr lang="en-US" i="1" dirty="0" err="1"/>
              <a:t>noncount</a:t>
            </a:r>
            <a:r>
              <a:rPr lang="en-US" dirty="0"/>
              <a:t>] ▪ Acting is a means of </a:t>
            </a:r>
            <a:r>
              <a:rPr lang="en-US" i="1" dirty="0"/>
              <a:t>catharsis</a:t>
            </a:r>
            <a:r>
              <a:rPr lang="en-US" dirty="0"/>
              <a:t> for her. [</a:t>
            </a:r>
            <a:r>
              <a:rPr lang="en-US" i="1" dirty="0"/>
              <a:t>singular</a:t>
            </a:r>
            <a:r>
              <a:rPr lang="en-US" dirty="0"/>
              <a:t>] ▪Painting/music/writing is a </a:t>
            </a:r>
            <a:r>
              <a:rPr lang="en-US" i="1" dirty="0"/>
              <a:t>catharsis</a:t>
            </a:r>
            <a:r>
              <a:rPr lang="en-US" dirty="0"/>
              <a:t> for me.</a:t>
            </a:r>
          </a:p>
          <a:p>
            <a:r>
              <a:rPr lang="en-US" b="1" dirty="0"/>
              <a:t>cathartic</a:t>
            </a:r>
            <a:r>
              <a:rPr lang="en-US" dirty="0"/>
              <a:t> / </a:t>
            </a:r>
            <a:r>
              <a:rPr lang="en-US" i="1" dirty="0"/>
              <a:t>adjective</a:t>
            </a:r>
            <a:r>
              <a:rPr lang="en-US" dirty="0"/>
              <a:t> [</a:t>
            </a:r>
            <a:r>
              <a:rPr lang="en-US" i="1" dirty="0"/>
              <a:t>more cathartic; most cathartic</a:t>
            </a:r>
            <a:r>
              <a:rPr lang="en-US" dirty="0"/>
              <a:t>] </a:t>
            </a:r>
            <a:br>
              <a:rPr lang="en-US" dirty="0"/>
            </a:br>
            <a:r>
              <a:rPr lang="en-US" dirty="0"/>
              <a:t>▪ a </a:t>
            </a:r>
            <a:r>
              <a:rPr lang="en-US" i="1" dirty="0"/>
              <a:t>cathartic</a:t>
            </a:r>
            <a:r>
              <a:rPr lang="en-US" dirty="0"/>
              <a:t> experience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9600" b="1" dirty="0" smtClean="0"/>
              <a:t/>
            </a:r>
            <a:br>
              <a:rPr lang="en-US" sz="9600" b="1" dirty="0" smtClean="0"/>
            </a:br>
            <a:r>
              <a:rPr lang="en-US" sz="9600" b="1" dirty="0" smtClean="0"/>
              <a:t/>
            </a:r>
            <a:br>
              <a:rPr lang="en-US" sz="9600" b="1" dirty="0" smtClean="0"/>
            </a:br>
            <a:r>
              <a:rPr lang="en-US" sz="9600" b="1" dirty="0" smtClean="0"/>
              <a:t/>
            </a:r>
            <a:br>
              <a:rPr lang="en-US" sz="9600" b="1" dirty="0" smtClean="0"/>
            </a:br>
            <a:r>
              <a:rPr lang="en-US" sz="9600" b="1" dirty="0" smtClean="0"/>
              <a:t>Postulate</a:t>
            </a:r>
            <a:r>
              <a:rPr lang="en-US" sz="9600" dirty="0" smtClean="0"/>
              <a:t> </a:t>
            </a:r>
            <a:r>
              <a:rPr lang="en-US" dirty="0" smtClean="0"/>
              <a:t>/ </a:t>
            </a:r>
            <a:r>
              <a:rPr lang="en-US" sz="4000" dirty="0" smtClean="0"/>
              <a:t>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[</a:t>
            </a:r>
            <a:r>
              <a:rPr lang="en-US" i="1" dirty="0"/>
              <a:t>+ </a:t>
            </a:r>
            <a:r>
              <a:rPr lang="en-US" i="1" dirty="0" err="1"/>
              <a:t>obj</a:t>
            </a:r>
            <a:r>
              <a:rPr lang="en-US" dirty="0"/>
              <a:t>] </a:t>
            </a:r>
            <a:r>
              <a:rPr lang="en-US" i="1" dirty="0"/>
              <a:t>formal</a:t>
            </a:r>
            <a:r>
              <a:rPr lang="en-US" dirty="0"/>
              <a:t> </a:t>
            </a:r>
            <a:r>
              <a:rPr lang="en-US" b="1" dirty="0"/>
              <a:t>:</a:t>
            </a:r>
            <a:r>
              <a:rPr lang="en-US" dirty="0"/>
              <a:t> to suggest (something, such as an idea or theory) especially in order to start a discussion </a:t>
            </a:r>
            <a:br>
              <a:rPr lang="en-US" dirty="0"/>
            </a:br>
            <a:r>
              <a:rPr lang="en-US" dirty="0"/>
              <a:t>▪ The theory </a:t>
            </a:r>
            <a:r>
              <a:rPr lang="en-US" i="1" dirty="0"/>
              <a:t>postulates</a:t>
            </a:r>
            <a:r>
              <a:rPr lang="en-US" dirty="0"/>
              <a:t> [=</a:t>
            </a:r>
            <a:r>
              <a:rPr lang="en-US" i="1" dirty="0"/>
              <a:t>claims, posits</a:t>
            </a:r>
            <a:r>
              <a:rPr lang="en-US" dirty="0"/>
              <a:t>] that carbon dioxide emissions contribute to global warming.▪ Scientists have </a:t>
            </a:r>
            <a:r>
              <a:rPr lang="en-US" i="1" dirty="0"/>
              <a:t>postulated</a:t>
            </a:r>
            <a:r>
              <a:rPr lang="en-US" dirty="0"/>
              <a:t> the existence of water on the planet.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>overt</a:t>
            </a:r>
            <a:r>
              <a:rPr lang="en-US" dirty="0" smtClean="0"/>
              <a:t> / </a:t>
            </a:r>
            <a:r>
              <a:rPr lang="en-US" sz="2700" dirty="0" smtClean="0"/>
              <a:t>adjective</a:t>
            </a:r>
            <a:br>
              <a:rPr lang="en-US" sz="27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</a:t>
            </a:r>
            <a:r>
              <a:rPr lang="en-US" i="1" dirty="0" smtClean="0"/>
              <a:t>more overt; most overt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easily seen </a:t>
            </a:r>
            <a:r>
              <a:rPr lang="en-US" b="1" dirty="0" smtClean="0"/>
              <a:t>:</a:t>
            </a:r>
            <a:r>
              <a:rPr lang="en-US" dirty="0" smtClean="0"/>
              <a:t> not secret or hidden </a:t>
            </a:r>
            <a:r>
              <a:rPr lang="en-US" b="1" dirty="0" smtClean="0"/>
              <a:t>:</a:t>
            </a:r>
            <a:r>
              <a:rPr lang="en-US" dirty="0" smtClean="0"/>
              <a:t> </a:t>
            </a:r>
            <a:r>
              <a:rPr lang="en-US" cap="small" dirty="0" smtClean="0">
                <a:hlinkClick r:id="rId2"/>
              </a:rPr>
              <a:t>obvious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▪ </a:t>
            </a:r>
            <a:r>
              <a:rPr lang="en-US" i="1" dirty="0" smtClean="0"/>
              <a:t>overt</a:t>
            </a:r>
            <a:r>
              <a:rPr lang="en-US" dirty="0" smtClean="0"/>
              <a:t> hostility — opposite </a:t>
            </a:r>
            <a:r>
              <a:rPr lang="en-US" cap="small" dirty="0" smtClean="0">
                <a:hlinkClick r:id="rId3"/>
              </a:rPr>
              <a:t>covert</a:t>
            </a:r>
            <a:endParaRPr lang="en-US" dirty="0" smtClean="0"/>
          </a:p>
          <a:p>
            <a:r>
              <a:rPr lang="en-US" b="1" dirty="0" smtClean="0"/>
              <a:t>— overtly</a:t>
            </a:r>
            <a:r>
              <a:rPr lang="en-US" dirty="0" smtClean="0"/>
              <a:t> </a:t>
            </a:r>
            <a:r>
              <a:rPr lang="en-US" i="1" dirty="0" smtClean="0"/>
              <a:t>adverb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▪ an </a:t>
            </a:r>
            <a:r>
              <a:rPr lang="en-US" i="1" dirty="0" smtClean="0"/>
              <a:t>overtly</a:t>
            </a:r>
            <a:r>
              <a:rPr lang="en-US" dirty="0" smtClean="0"/>
              <a:t> religious reference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>Invalidate</a:t>
            </a:r>
            <a:r>
              <a:rPr lang="en-US" sz="6700" dirty="0" smtClean="0"/>
              <a:t> </a:t>
            </a:r>
            <a:r>
              <a:rPr lang="en-US" dirty="0" smtClean="0"/>
              <a:t>/</a:t>
            </a:r>
            <a:r>
              <a:rPr lang="en-US" sz="3100" dirty="0" smtClean="0"/>
              <a:t> 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invalidates;</a:t>
            </a:r>
            <a:r>
              <a:rPr lang="en-US" dirty="0" smtClean="0"/>
              <a:t> </a:t>
            </a:r>
            <a:r>
              <a:rPr lang="en-US" b="1" dirty="0" smtClean="0"/>
              <a:t>invalidated;</a:t>
            </a:r>
            <a:r>
              <a:rPr lang="en-US" dirty="0" smtClean="0"/>
              <a:t> </a:t>
            </a:r>
            <a:r>
              <a:rPr lang="en-US" b="1" dirty="0" smtClean="0"/>
              <a:t>invalidating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to make (something) invalid: such as </a:t>
            </a:r>
            <a:r>
              <a:rPr lang="en-US" b="1" dirty="0" smtClean="0"/>
              <a:t>a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weaken or destroy the effect of (something) </a:t>
            </a:r>
            <a:br>
              <a:rPr lang="en-US" dirty="0" smtClean="0"/>
            </a:br>
            <a:r>
              <a:rPr lang="en-US" dirty="0" smtClean="0"/>
              <a:t>▪ actions that will </a:t>
            </a:r>
            <a:r>
              <a:rPr lang="en-US" i="1" dirty="0" smtClean="0"/>
              <a:t>invalidate</a:t>
            </a:r>
            <a:r>
              <a:rPr lang="en-US" dirty="0" smtClean="0"/>
              <a:t> the contract ▪ </a:t>
            </a:r>
            <a:r>
              <a:rPr lang="en-US" i="1" dirty="0" smtClean="0"/>
              <a:t>invalidate</a:t>
            </a:r>
            <a:r>
              <a:rPr lang="en-US" dirty="0" smtClean="0"/>
              <a:t> a marriage ▪ </a:t>
            </a:r>
            <a:r>
              <a:rPr lang="en-US" i="1" dirty="0" smtClean="0"/>
              <a:t>invalidate</a:t>
            </a:r>
            <a:r>
              <a:rPr lang="en-US" dirty="0" smtClean="0"/>
              <a:t> an election </a:t>
            </a:r>
            <a:br>
              <a:rPr lang="en-US" dirty="0" smtClean="0"/>
            </a:br>
            <a:r>
              <a:rPr lang="en-US" b="1" dirty="0" smtClean="0"/>
              <a:t>b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show or prove (something) to be false or incorrect </a:t>
            </a:r>
            <a:br>
              <a:rPr lang="en-US" dirty="0" smtClean="0"/>
            </a:br>
            <a:r>
              <a:rPr lang="en-US" dirty="0" smtClean="0"/>
              <a:t>▪ The study </a:t>
            </a:r>
            <a:r>
              <a:rPr lang="en-US" i="1" dirty="0" smtClean="0"/>
              <a:t>invalidates</a:t>
            </a:r>
            <a:r>
              <a:rPr lang="en-US" dirty="0" smtClean="0"/>
              <a:t> earlier theories. ▪ factors that may </a:t>
            </a:r>
            <a:r>
              <a:rPr lang="en-US" i="1" dirty="0" smtClean="0"/>
              <a:t>invalidate</a:t>
            </a:r>
            <a:r>
              <a:rPr lang="en-US" dirty="0" smtClean="0"/>
              <a:t> the test results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>Contest</a:t>
            </a:r>
            <a:r>
              <a:rPr lang="en-US" dirty="0" smtClean="0"/>
              <a:t> /</a:t>
            </a:r>
            <a:r>
              <a:rPr lang="en-US" sz="2700" b="1" dirty="0" smtClean="0"/>
              <a:t> 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contests;</a:t>
            </a:r>
            <a:r>
              <a:rPr lang="en-US" dirty="0" smtClean="0"/>
              <a:t> </a:t>
            </a:r>
            <a:r>
              <a:rPr lang="en-US" b="1" dirty="0" smtClean="0"/>
              <a:t>contested;</a:t>
            </a:r>
            <a:r>
              <a:rPr lang="en-US" dirty="0" smtClean="0"/>
              <a:t> </a:t>
            </a:r>
            <a:r>
              <a:rPr lang="en-US" b="1" dirty="0" smtClean="0"/>
              <a:t>contesting</a:t>
            </a:r>
            <a:endParaRPr lang="en-US" dirty="0" smtClean="0"/>
          </a:p>
          <a:p>
            <a:r>
              <a:rPr lang="en-US" b="1" dirty="0" smtClean="0"/>
              <a:t>1</a:t>
            </a:r>
            <a:r>
              <a:rPr lang="en-US" dirty="0" smtClean="0"/>
              <a:t> 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to make (something) the subject of an argument or a legal case </a:t>
            </a:r>
            <a:r>
              <a:rPr lang="en-US" b="1" dirty="0" smtClean="0"/>
              <a:t>:</a:t>
            </a:r>
            <a:r>
              <a:rPr lang="en-US" dirty="0" smtClean="0"/>
              <a:t> to say that you do not agree with or accept (something) </a:t>
            </a:r>
            <a:br>
              <a:rPr lang="en-US" dirty="0" smtClean="0"/>
            </a:br>
            <a:r>
              <a:rPr lang="en-US" dirty="0" smtClean="0"/>
              <a:t>▪ Several of the dead man's relatives are </a:t>
            </a:r>
            <a:r>
              <a:rPr lang="en-US" i="1" dirty="0" smtClean="0"/>
              <a:t>contesting</a:t>
            </a:r>
            <a:r>
              <a:rPr lang="en-US" dirty="0" smtClean="0"/>
              <a:t> [=</a:t>
            </a:r>
            <a:r>
              <a:rPr lang="en-US" i="1" dirty="0" smtClean="0"/>
              <a:t>disputing, challenging</a:t>
            </a:r>
            <a:r>
              <a:rPr lang="en-US" dirty="0" smtClean="0"/>
              <a:t>] his will (in court). ▪ The losing candidate is </a:t>
            </a:r>
            <a:r>
              <a:rPr lang="en-US" i="1" dirty="0" smtClean="0"/>
              <a:t>contesting</a:t>
            </a:r>
            <a:r>
              <a:rPr lang="en-US" dirty="0" smtClean="0"/>
              <a:t> the results of the election. = (</a:t>
            </a:r>
            <a:r>
              <a:rPr lang="en-US" i="1" dirty="0" smtClean="0"/>
              <a:t>US</a:t>
            </a:r>
            <a:r>
              <a:rPr lang="en-US" dirty="0" smtClean="0"/>
              <a:t>) The losing candidate is </a:t>
            </a:r>
            <a:r>
              <a:rPr lang="en-US" i="1" dirty="0" smtClean="0"/>
              <a:t>contesting</a:t>
            </a:r>
            <a:r>
              <a:rPr lang="en-US" dirty="0" smtClean="0"/>
              <a:t> the election. ▪ The rule is being </a:t>
            </a:r>
            <a:r>
              <a:rPr lang="en-US" i="1" dirty="0" smtClean="0"/>
              <a:t>contested</a:t>
            </a:r>
            <a:r>
              <a:rPr lang="en-US" dirty="0" smtClean="0"/>
              <a:t> by a number of students at the university. [=students are formally complaining about the rule]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to try to win (something) </a:t>
            </a:r>
            <a:br>
              <a:rPr lang="en-US" dirty="0" smtClean="0"/>
            </a:br>
            <a:r>
              <a:rPr lang="en-US" dirty="0" smtClean="0"/>
              <a:t>▪ She plans to </a:t>
            </a:r>
            <a:r>
              <a:rPr lang="en-US" i="1" dirty="0" smtClean="0"/>
              <a:t>contest</a:t>
            </a:r>
            <a:r>
              <a:rPr lang="en-US" dirty="0" smtClean="0"/>
              <a:t> a seat in Congress next year. ▪ Both candidates have agreed to another debate before this hotly/bitterly </a:t>
            </a:r>
            <a:r>
              <a:rPr lang="en-US" i="1" dirty="0" smtClean="0"/>
              <a:t>contested</a:t>
            </a:r>
            <a:r>
              <a:rPr lang="en-US" dirty="0" smtClean="0"/>
              <a:t> election.</a:t>
            </a:r>
          </a:p>
          <a:p>
            <a:r>
              <a:rPr lang="en-US" b="1" dirty="0" smtClean="0"/>
              <a:t>3</a:t>
            </a:r>
            <a:r>
              <a:rPr lang="en-US" dirty="0" smtClean="0"/>
              <a:t> [</a:t>
            </a:r>
            <a:r>
              <a:rPr lang="en-US" i="1" dirty="0" smtClean="0"/>
              <a:t>no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to struggle or fight for or against something </a:t>
            </a:r>
            <a:br>
              <a:rPr lang="en-US" dirty="0" smtClean="0"/>
            </a:br>
            <a:r>
              <a:rPr lang="en-US" dirty="0" smtClean="0"/>
              <a:t>▪ </a:t>
            </a:r>
            <a:r>
              <a:rPr lang="en-US" i="1" dirty="0" smtClean="0"/>
              <a:t>contesting</a:t>
            </a:r>
            <a:r>
              <a:rPr lang="en-US" dirty="0" smtClean="0"/>
              <a:t> for power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0700" b="1" dirty="0" smtClean="0"/>
              <a:t/>
            </a:r>
            <a:br>
              <a:rPr lang="en-US" sz="10700" b="1" dirty="0" smtClean="0"/>
            </a:br>
            <a:r>
              <a:rPr lang="en-US" sz="10700" b="1" dirty="0" smtClean="0"/>
              <a:t/>
            </a:r>
            <a:br>
              <a:rPr lang="en-US" sz="10700" b="1" dirty="0" smtClean="0"/>
            </a:br>
            <a:r>
              <a:rPr lang="en-US" sz="10700" b="1" dirty="0" smtClean="0"/>
              <a:t/>
            </a:r>
            <a:br>
              <a:rPr lang="en-US" sz="10700" b="1" dirty="0" smtClean="0"/>
            </a:br>
            <a:r>
              <a:rPr lang="en-US" sz="10700" b="1" dirty="0" smtClean="0"/>
              <a:t>Mock</a:t>
            </a:r>
            <a:r>
              <a:rPr lang="en-US" dirty="0" smtClean="0"/>
              <a:t> / </a:t>
            </a:r>
            <a:r>
              <a:rPr lang="en-US" sz="3100" dirty="0" smtClean="0"/>
              <a:t>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mocks;</a:t>
            </a:r>
            <a:r>
              <a:rPr lang="en-US" dirty="0" smtClean="0"/>
              <a:t> </a:t>
            </a:r>
            <a:r>
              <a:rPr lang="en-US" b="1" dirty="0" smtClean="0"/>
              <a:t>mocked;</a:t>
            </a:r>
            <a:r>
              <a:rPr lang="en-US" dirty="0" smtClean="0"/>
              <a:t> </a:t>
            </a:r>
            <a:r>
              <a:rPr lang="en-US" b="1" dirty="0" smtClean="0"/>
              <a:t>mocking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1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laugh at or make fun of (someone or something) especially by copying an action or a way of behaving or speaking </a:t>
            </a:r>
            <a:br>
              <a:rPr lang="en-US" dirty="0" smtClean="0"/>
            </a:br>
            <a:r>
              <a:rPr lang="en-US" dirty="0" smtClean="0"/>
              <a:t>▪ The boys </a:t>
            </a:r>
            <a:r>
              <a:rPr lang="en-US" i="1" dirty="0" smtClean="0"/>
              <a:t>mocked</a:t>
            </a:r>
            <a:r>
              <a:rPr lang="en-US" dirty="0" smtClean="0"/>
              <a:t> him for showing fear. ▪ They </a:t>
            </a:r>
            <a:r>
              <a:rPr lang="en-US" i="1" dirty="0" smtClean="0"/>
              <a:t>mocked</a:t>
            </a:r>
            <a:r>
              <a:rPr lang="en-US" dirty="0" smtClean="0"/>
              <a:t> his cries for help. [=they imitated his cries for help in an exaggerated way that was meant to ridicule him] ▪ Other children would </a:t>
            </a:r>
            <a:r>
              <a:rPr lang="en-US" i="1" dirty="0" smtClean="0"/>
              <a:t>mock</a:t>
            </a:r>
            <a:r>
              <a:rPr lang="en-US" dirty="0" smtClean="0"/>
              <a:t> her accent. [=would make fun of the way she spoke by copying it in an exaggerated way]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criticize and laugh at (someone or something) for being bad, worthless, or unimportant </a:t>
            </a:r>
            <a:br>
              <a:rPr lang="en-US" dirty="0" smtClean="0"/>
            </a:br>
            <a:r>
              <a:rPr lang="en-US" dirty="0" smtClean="0"/>
              <a:t>▪ He </a:t>
            </a:r>
            <a:r>
              <a:rPr lang="en-US" i="1" dirty="0" smtClean="0"/>
              <a:t>mocks</a:t>
            </a:r>
            <a:r>
              <a:rPr lang="en-US" dirty="0" smtClean="0"/>
              <a:t> art only because he doesn't understand it. ▪ They continue to </a:t>
            </a:r>
            <a:r>
              <a:rPr lang="en-US" i="1" dirty="0" smtClean="0"/>
              <a:t>mock</a:t>
            </a:r>
            <a:r>
              <a:rPr lang="en-US" dirty="0" smtClean="0"/>
              <a:t> the idea of a new government. ▪ We are being </a:t>
            </a:r>
            <a:r>
              <a:rPr lang="en-US" i="1" dirty="0" smtClean="0"/>
              <a:t>mocked</a:t>
            </a:r>
            <a:r>
              <a:rPr lang="en-US" dirty="0" smtClean="0"/>
              <a:t> for our religious beliefs. ▪ You can </a:t>
            </a:r>
            <a:r>
              <a:rPr lang="en-US" i="1" dirty="0" smtClean="0"/>
              <a:t>mock</a:t>
            </a:r>
            <a:r>
              <a:rPr lang="en-US" dirty="0" smtClean="0"/>
              <a:t> me as much as you like, but I'm going to do it anyway.</a:t>
            </a:r>
          </a:p>
          <a:p>
            <a:r>
              <a:rPr lang="en-US" b="1" dirty="0" smtClean="0"/>
              <a:t>mocker</a:t>
            </a:r>
            <a:r>
              <a:rPr lang="en-US" dirty="0" smtClean="0"/>
              <a:t> / </a:t>
            </a:r>
            <a:r>
              <a:rPr lang="en-US" i="1" dirty="0" smtClean="0"/>
              <a:t>noun</a:t>
            </a:r>
            <a:r>
              <a:rPr lang="en-US" dirty="0" smtClean="0"/>
              <a:t>, </a:t>
            </a:r>
            <a:r>
              <a:rPr lang="en-US" i="1" dirty="0" smtClean="0"/>
              <a:t>plural</a:t>
            </a:r>
            <a:r>
              <a:rPr lang="en-US" dirty="0" smtClean="0"/>
              <a:t> </a:t>
            </a:r>
            <a:r>
              <a:rPr lang="en-US" b="1" dirty="0" smtClean="0"/>
              <a:t>mockers</a:t>
            </a:r>
            <a:r>
              <a:rPr lang="en-US" dirty="0" smtClean="0"/>
              <a:t> [</a:t>
            </a:r>
            <a:r>
              <a:rPr lang="en-US" i="1" dirty="0" smtClean="0"/>
              <a:t>count</a:t>
            </a:r>
            <a:r>
              <a:rPr lang="en-US" dirty="0" smtClean="0"/>
              <a:t>] </a:t>
            </a:r>
            <a:br>
              <a:rPr lang="en-US" dirty="0" smtClean="0"/>
            </a:br>
            <a:r>
              <a:rPr lang="en-US" dirty="0" smtClean="0"/>
              <a:t>▪ </a:t>
            </a:r>
            <a:r>
              <a:rPr lang="en-US" i="1" dirty="0" smtClean="0"/>
              <a:t>mockers</a:t>
            </a:r>
            <a:r>
              <a:rPr lang="en-US" dirty="0" smtClean="0"/>
              <a:t> of poetry</a:t>
            </a:r>
          </a:p>
          <a:p>
            <a:r>
              <a:rPr lang="en-US" b="1" dirty="0" smtClean="0"/>
              <a:t>mocking</a:t>
            </a:r>
            <a:r>
              <a:rPr lang="en-US" dirty="0" smtClean="0"/>
              <a:t> </a:t>
            </a:r>
            <a:r>
              <a:rPr lang="en-US" i="1" dirty="0" smtClean="0"/>
              <a:t>adjective</a:t>
            </a:r>
            <a:r>
              <a:rPr lang="en-US" dirty="0" smtClean="0"/>
              <a:t> [</a:t>
            </a:r>
            <a:r>
              <a:rPr lang="en-US" i="1" dirty="0" smtClean="0"/>
              <a:t>more mocking; most mocking</a:t>
            </a:r>
            <a:r>
              <a:rPr lang="en-US" dirty="0" smtClean="0"/>
              <a:t>] </a:t>
            </a:r>
            <a:br>
              <a:rPr lang="en-US" dirty="0" smtClean="0"/>
            </a:br>
            <a:r>
              <a:rPr lang="en-US" dirty="0" smtClean="0"/>
              <a:t>▪ </a:t>
            </a:r>
            <a:r>
              <a:rPr lang="en-US" i="1" dirty="0" smtClean="0"/>
              <a:t>mocking</a:t>
            </a:r>
            <a:r>
              <a:rPr lang="en-US" dirty="0" smtClean="0"/>
              <a:t> words ▪ a </a:t>
            </a:r>
            <a:r>
              <a:rPr lang="en-US" i="1" dirty="0" smtClean="0"/>
              <a:t>mocking</a:t>
            </a:r>
            <a:r>
              <a:rPr lang="en-US" dirty="0" smtClean="0"/>
              <a:t> crowd</a:t>
            </a:r>
          </a:p>
          <a:p>
            <a:r>
              <a:rPr lang="en-US" b="1" dirty="0" smtClean="0"/>
              <a:t> mockingly</a:t>
            </a:r>
            <a:r>
              <a:rPr lang="en-US" dirty="0" smtClean="0"/>
              <a:t> / </a:t>
            </a:r>
            <a:r>
              <a:rPr lang="en-US" i="1" dirty="0" smtClean="0"/>
              <a:t>adverb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▪ They laughed at him </a:t>
            </a:r>
            <a:r>
              <a:rPr lang="en-US" i="1" dirty="0" smtClean="0"/>
              <a:t>mockingly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8000" b="1" dirty="0" smtClean="0"/>
              <a:t>Articulate</a:t>
            </a:r>
            <a:r>
              <a:rPr lang="en-US" sz="8000" dirty="0" smtClean="0"/>
              <a:t> </a:t>
            </a:r>
            <a:r>
              <a:rPr lang="en-US" dirty="0" smtClean="0"/>
              <a:t>/</a:t>
            </a:r>
            <a:r>
              <a:rPr lang="en-US" sz="3100" dirty="0" smtClean="0"/>
              <a:t> adjective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[</a:t>
            </a:r>
            <a:r>
              <a:rPr lang="en-US" i="1" dirty="0" smtClean="0"/>
              <a:t>more articulate; most articulate</a:t>
            </a:r>
            <a:r>
              <a:rPr lang="en-US" dirty="0" smtClean="0"/>
              <a:t>] </a:t>
            </a:r>
            <a:r>
              <a:rPr lang="en-US" b="1" dirty="0" smtClean="0"/>
              <a:t>1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able to express ideas clearly and effectively in speech or writing </a:t>
            </a:r>
            <a:br>
              <a:rPr lang="en-US" dirty="0" smtClean="0"/>
            </a:br>
            <a:r>
              <a:rPr lang="en-US" dirty="0" smtClean="0"/>
              <a:t>▪ She's an intelligent and </a:t>
            </a:r>
            <a:r>
              <a:rPr lang="en-US" i="1" dirty="0" smtClean="0"/>
              <a:t>articulate</a:t>
            </a:r>
            <a:r>
              <a:rPr lang="en-US" dirty="0" smtClean="0"/>
              <a:t> speaker. ▪ He was very </a:t>
            </a:r>
            <a:r>
              <a:rPr lang="en-US" i="1" dirty="0" smtClean="0"/>
              <a:t>articulate</a:t>
            </a:r>
            <a:r>
              <a:rPr lang="en-US" dirty="0" smtClean="0"/>
              <a:t> about his feelings on the subject. — opposite </a:t>
            </a:r>
            <a:r>
              <a:rPr lang="en-US" u="sng" cap="small" dirty="0" smtClean="0">
                <a:hlinkClick r:id="rId2"/>
              </a:rPr>
              <a:t>inarticulate</a:t>
            </a:r>
            <a:endParaRPr lang="en-US" dirty="0" smtClean="0"/>
          </a:p>
          <a:p>
            <a:r>
              <a:rPr lang="en-US" b="1" dirty="0" smtClean="0"/>
              <a:t>2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clearly expressed and easily understood </a:t>
            </a:r>
            <a:br>
              <a:rPr lang="en-US" dirty="0" smtClean="0"/>
            </a:br>
            <a:r>
              <a:rPr lang="en-US" dirty="0" smtClean="0"/>
              <a:t>▪ an </a:t>
            </a:r>
            <a:r>
              <a:rPr lang="en-US" i="1" dirty="0" smtClean="0"/>
              <a:t>articulate</a:t>
            </a:r>
            <a:r>
              <a:rPr lang="en-US" dirty="0" smtClean="0"/>
              <a:t> argument/essay/speech ▪ The baby is beginning to form </a:t>
            </a:r>
            <a:r>
              <a:rPr lang="en-US" i="1" dirty="0" smtClean="0"/>
              <a:t>articulate</a:t>
            </a:r>
            <a:r>
              <a:rPr lang="en-US" dirty="0" smtClean="0"/>
              <a:t> words and phrases.— opposite </a:t>
            </a:r>
            <a:r>
              <a:rPr lang="en-US" u="sng" cap="small" dirty="0" smtClean="0">
                <a:hlinkClick r:id="rId2"/>
              </a:rPr>
              <a:t>inarticulate</a:t>
            </a:r>
            <a:endParaRPr lang="en-US" dirty="0" smtClean="0"/>
          </a:p>
          <a:p>
            <a:r>
              <a:rPr lang="en-US" b="1" dirty="0" smtClean="0"/>
              <a:t>— articulately</a:t>
            </a:r>
            <a:r>
              <a:rPr lang="en-US" dirty="0" smtClean="0"/>
              <a:t> </a:t>
            </a:r>
            <a:r>
              <a:rPr lang="en-US" i="1" dirty="0" smtClean="0"/>
              <a:t>adverb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▪ She spoke clearly and </a:t>
            </a:r>
            <a:r>
              <a:rPr lang="en-US" i="1" dirty="0" smtClean="0"/>
              <a:t>articulately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— articulateness</a:t>
            </a:r>
            <a:r>
              <a:rPr lang="en-US" dirty="0" smtClean="0"/>
              <a:t> </a:t>
            </a:r>
            <a:r>
              <a:rPr lang="en-US" i="1" dirty="0" smtClean="0"/>
              <a:t>noun</a:t>
            </a:r>
            <a:r>
              <a:rPr lang="en-US" dirty="0" smtClean="0"/>
              <a:t> [</a:t>
            </a:r>
            <a:r>
              <a:rPr lang="en-US" i="1" dirty="0" err="1" smtClean="0"/>
              <a:t>noncount</a:t>
            </a:r>
            <a:r>
              <a:rPr lang="en-US" dirty="0" smtClean="0"/>
              <a:t>]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>Promulgate</a:t>
            </a:r>
            <a:r>
              <a:rPr lang="en-US" dirty="0" smtClean="0"/>
              <a:t> / </a:t>
            </a:r>
            <a:r>
              <a:rPr lang="en-US" sz="4000" dirty="0" smtClean="0"/>
              <a:t>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promulgates;</a:t>
            </a:r>
            <a:r>
              <a:rPr lang="en-US" dirty="0" smtClean="0"/>
              <a:t> </a:t>
            </a:r>
            <a:r>
              <a:rPr lang="en-US" b="1" dirty="0" smtClean="0"/>
              <a:t>promulgated;</a:t>
            </a:r>
            <a:r>
              <a:rPr lang="en-US" dirty="0" smtClean="0"/>
              <a:t> </a:t>
            </a:r>
            <a:r>
              <a:rPr lang="en-US" b="1" dirty="0" smtClean="0"/>
              <a:t>promulgating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1</a:t>
            </a:r>
            <a:r>
              <a:rPr lang="en-US" dirty="0" smtClean="0"/>
              <a:t> </a:t>
            </a:r>
            <a:r>
              <a:rPr lang="en-US" i="1" dirty="0" smtClean="0"/>
              <a:t>formal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make (an idea, belief, etc.) known to many people </a:t>
            </a:r>
            <a:br>
              <a:rPr lang="en-US" dirty="0" smtClean="0"/>
            </a:br>
            <a:r>
              <a:rPr lang="en-US" dirty="0" smtClean="0"/>
              <a:t>▪ Her ideas/theories have been widely </a:t>
            </a:r>
            <a:r>
              <a:rPr lang="en-US" i="1" dirty="0" smtClean="0"/>
              <a:t>promulgated</a:t>
            </a:r>
            <a:r>
              <a:rPr lang="en-US" dirty="0" smtClean="0"/>
              <a:t> on the Internet.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</a:t>
            </a:r>
            <a:r>
              <a:rPr lang="en-US" i="1" dirty="0" smtClean="0"/>
              <a:t>technical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make (a new law) known officially and publicly </a:t>
            </a:r>
            <a:br>
              <a:rPr lang="en-US" dirty="0" smtClean="0"/>
            </a:br>
            <a:r>
              <a:rPr lang="en-US" dirty="0" smtClean="0"/>
              <a:t>▪ The law was </a:t>
            </a:r>
            <a:r>
              <a:rPr lang="en-US" i="1" dirty="0" smtClean="0"/>
              <a:t>promulgated</a:t>
            </a:r>
            <a:r>
              <a:rPr lang="en-US" dirty="0" smtClean="0"/>
              <a:t> in April 1988.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>Abeyance</a:t>
            </a:r>
            <a:r>
              <a:rPr lang="en-US" sz="8000" dirty="0" smtClean="0"/>
              <a:t> </a:t>
            </a:r>
            <a:r>
              <a:rPr lang="en-US" dirty="0" smtClean="0"/>
              <a:t>/</a:t>
            </a:r>
            <a:r>
              <a:rPr lang="en-US" sz="3100" dirty="0" smtClean="0"/>
              <a:t> noun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 abeyance</a:t>
            </a:r>
            <a:endParaRPr lang="en-US" dirty="0" smtClean="0"/>
          </a:p>
          <a:p>
            <a:r>
              <a:rPr lang="en-US" i="1" dirty="0" smtClean="0"/>
              <a:t>formal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in a temporary state of being stopped </a:t>
            </a:r>
            <a:br>
              <a:rPr lang="en-US" dirty="0" smtClean="0"/>
            </a:br>
            <a:r>
              <a:rPr lang="en-US" dirty="0" smtClean="0"/>
              <a:t>▪ The plans are </a:t>
            </a:r>
            <a:r>
              <a:rPr lang="en-US" i="1" dirty="0" smtClean="0"/>
              <a:t>in abeyance</a:t>
            </a:r>
            <a:r>
              <a:rPr lang="en-US" dirty="0" smtClean="0"/>
              <a:t>. = The plans are being held </a:t>
            </a:r>
            <a:r>
              <a:rPr lang="en-US" i="1" dirty="0" smtClean="0"/>
              <a:t>in abeyance</a:t>
            </a:r>
            <a:r>
              <a:rPr lang="en-US" dirty="0" smtClean="0"/>
              <a:t>. [=the plans are not now being used]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6700" b="1" dirty="0" smtClean="0"/>
              <a:t>Notarize</a:t>
            </a:r>
            <a:r>
              <a:rPr lang="en-US" sz="4000" dirty="0" smtClean="0"/>
              <a:t> </a:t>
            </a:r>
            <a:r>
              <a:rPr lang="en-US" sz="4000" i="1" dirty="0" smtClean="0"/>
              <a:t>also Brit</a:t>
            </a:r>
            <a:r>
              <a:rPr lang="en-US" sz="4000" dirty="0" smtClean="0"/>
              <a:t>  </a:t>
            </a:r>
            <a:r>
              <a:rPr lang="en-US" sz="4000" b="1" dirty="0" err="1" smtClean="0"/>
              <a:t>notarise</a:t>
            </a:r>
            <a:r>
              <a:rPr lang="en-US" sz="4000" dirty="0" smtClean="0"/>
              <a:t> / </a:t>
            </a:r>
            <a:r>
              <a:rPr lang="en-US" sz="4000" b="1" dirty="0" smtClean="0"/>
              <a:t>verb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notarizes;</a:t>
            </a:r>
            <a:r>
              <a:rPr lang="en-US" dirty="0" smtClean="0"/>
              <a:t> </a:t>
            </a:r>
            <a:r>
              <a:rPr lang="en-US" b="1" dirty="0" smtClean="0"/>
              <a:t>notarized;</a:t>
            </a:r>
            <a:r>
              <a:rPr lang="en-US" dirty="0" smtClean="0"/>
              <a:t> </a:t>
            </a:r>
            <a:r>
              <a:rPr lang="en-US" b="1" dirty="0" smtClean="0"/>
              <a:t>notarizing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i="1" dirty="0" smtClean="0"/>
              <a:t>law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sign (a document) as a notary public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>Suspend</a:t>
            </a:r>
            <a:r>
              <a:rPr lang="en-US" dirty="0" smtClean="0"/>
              <a:t> / </a:t>
            </a:r>
            <a:r>
              <a:rPr lang="en-US" sz="3600" dirty="0" smtClean="0"/>
              <a:t>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suspends;</a:t>
            </a:r>
            <a:r>
              <a:rPr lang="en-US" dirty="0" smtClean="0"/>
              <a:t> </a:t>
            </a:r>
            <a:r>
              <a:rPr lang="en-US" b="1" dirty="0" smtClean="0"/>
              <a:t>suspended;</a:t>
            </a:r>
            <a:r>
              <a:rPr lang="en-US" dirty="0" smtClean="0"/>
              <a:t> </a:t>
            </a:r>
            <a:r>
              <a:rPr lang="en-US" b="1" dirty="0" smtClean="0"/>
              <a:t>suspending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1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force (someone) to leave a job, position, or place for a usually short period of time as a form of punishment </a:t>
            </a:r>
            <a:br>
              <a:rPr lang="en-US" dirty="0" smtClean="0"/>
            </a:br>
            <a:r>
              <a:rPr lang="en-US" dirty="0" smtClean="0"/>
              <a:t>▪ He was </a:t>
            </a:r>
            <a:r>
              <a:rPr lang="en-US" i="1" dirty="0" smtClean="0"/>
              <a:t>suspended</a:t>
            </a:r>
            <a:r>
              <a:rPr lang="en-US" dirty="0" smtClean="0"/>
              <a:t> from the team for missing too many practices. ▪ The police officers </a:t>
            </a:r>
            <a:r>
              <a:rPr lang="en-US" dirty="0" err="1" smtClean="0"/>
              <a:t>were</a:t>
            </a:r>
            <a:r>
              <a:rPr lang="en-US" i="1" dirty="0" err="1" smtClean="0"/>
              <a:t>suspended</a:t>
            </a:r>
            <a:r>
              <a:rPr lang="en-US" dirty="0" smtClean="0"/>
              <a:t> without pay for their conduct. ▪ The principal </a:t>
            </a:r>
            <a:r>
              <a:rPr lang="en-US" i="1" dirty="0" smtClean="0"/>
              <a:t>suspended</a:t>
            </a:r>
            <a:r>
              <a:rPr lang="en-US" dirty="0" smtClean="0"/>
              <a:t> the student from school for fighting.</a:t>
            </a:r>
          </a:p>
          <a:p>
            <a:r>
              <a:rPr lang="en-US" b="1" dirty="0" smtClean="0"/>
              <a:t>2 a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stop (something) for a usually short period of time </a:t>
            </a:r>
            <a:br>
              <a:rPr lang="en-US" dirty="0" smtClean="0"/>
            </a:br>
            <a:r>
              <a:rPr lang="en-US" dirty="0" smtClean="0"/>
              <a:t>▪ The city </a:t>
            </a:r>
            <a:r>
              <a:rPr lang="en-US" i="1" dirty="0" smtClean="0"/>
              <a:t>suspended</a:t>
            </a:r>
            <a:r>
              <a:rPr lang="en-US" dirty="0" smtClean="0"/>
              <a:t> bus service during the storm. ▪ The company was forced to </a:t>
            </a:r>
            <a:r>
              <a:rPr lang="en-US" i="1" dirty="0" smtClean="0"/>
              <a:t>suspend</a:t>
            </a:r>
            <a:r>
              <a:rPr lang="en-US" dirty="0" smtClean="0"/>
              <a:t> operations.▪ They have </a:t>
            </a:r>
            <a:r>
              <a:rPr lang="en-US" i="1" dirty="0" smtClean="0"/>
              <a:t>suspended</a:t>
            </a:r>
            <a:r>
              <a:rPr lang="en-US" dirty="0" smtClean="0"/>
              <a:t> the peace talks. ▪ The plot is ridiculous, but if you can </a:t>
            </a:r>
            <a:r>
              <a:rPr lang="en-US" b="1" dirty="0" smtClean="0"/>
              <a:t>suspend (your) disbelief</a:t>
            </a:r>
            <a:r>
              <a:rPr lang="en-US" dirty="0" smtClean="0"/>
              <a:t> [=allow yourself to believe that something is true even though it seems impossible], it's an enjoyable movie. </a:t>
            </a:r>
            <a:br>
              <a:rPr lang="en-US" dirty="0" smtClean="0"/>
            </a:br>
            <a:r>
              <a:rPr lang="en-US" b="1" dirty="0" smtClean="0"/>
              <a:t>b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make (something) happen later </a:t>
            </a:r>
            <a:r>
              <a:rPr lang="en-US" b="1" dirty="0" smtClean="0"/>
              <a:t>:</a:t>
            </a:r>
            <a:r>
              <a:rPr lang="en-US" dirty="0" smtClean="0"/>
              <a:t> to delay (something) </a:t>
            </a:r>
            <a:br>
              <a:rPr lang="en-US" dirty="0" smtClean="0"/>
            </a:br>
            <a:r>
              <a:rPr lang="en-US" dirty="0" smtClean="0"/>
              <a:t>▪ The judge </a:t>
            </a:r>
            <a:r>
              <a:rPr lang="en-US" i="1" dirty="0" smtClean="0"/>
              <a:t>suspended</a:t>
            </a:r>
            <a:r>
              <a:rPr lang="en-US" dirty="0" smtClean="0"/>
              <a:t> [=</a:t>
            </a:r>
            <a:r>
              <a:rPr lang="en-US" i="1" dirty="0" smtClean="0"/>
              <a:t>postponed</a:t>
            </a:r>
            <a:r>
              <a:rPr lang="en-US" dirty="0" smtClean="0"/>
              <a:t>] the hearing for one week. ▪ I advise </a:t>
            </a:r>
            <a:r>
              <a:rPr lang="en-US" i="1" dirty="0" smtClean="0"/>
              <a:t>suspending</a:t>
            </a:r>
            <a:r>
              <a:rPr lang="en-US" dirty="0" smtClean="0"/>
              <a:t> judgment until the investigation is over. </a:t>
            </a:r>
            <a:br>
              <a:rPr lang="en-US" dirty="0" smtClean="0"/>
            </a:br>
            <a:r>
              <a:rPr lang="en-US" b="1" dirty="0" smtClean="0"/>
              <a:t>c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make (something) invalid or ineffective for a usually short period of time </a:t>
            </a:r>
            <a:br>
              <a:rPr lang="en-US" dirty="0" smtClean="0"/>
            </a:br>
            <a:r>
              <a:rPr lang="en-US" dirty="0" smtClean="0"/>
              <a:t>▪ Her license to practice law was </a:t>
            </a:r>
            <a:r>
              <a:rPr lang="en-US" i="1" dirty="0" smtClean="0"/>
              <a:t>suspended</a:t>
            </a:r>
            <a:r>
              <a:rPr lang="en-US" dirty="0" smtClean="0"/>
              <a:t>. ▪ We can </a:t>
            </a:r>
            <a:r>
              <a:rPr lang="en-US" i="1" dirty="0" smtClean="0"/>
              <a:t>suspend</a:t>
            </a:r>
            <a:r>
              <a:rPr lang="en-US" dirty="0" smtClean="0"/>
              <a:t> the rules just this once. ▪ He's driving with a </a:t>
            </a:r>
            <a:r>
              <a:rPr lang="en-US" i="1" dirty="0" smtClean="0"/>
              <a:t>suspended</a:t>
            </a:r>
            <a:r>
              <a:rPr lang="en-US" dirty="0" smtClean="0"/>
              <a:t> license.</a:t>
            </a:r>
          </a:p>
          <a:p>
            <a:r>
              <a:rPr lang="en-US" b="1" dirty="0" smtClean="0"/>
              <a:t>3 a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hang something so that it is free on all sides except at the point of support </a:t>
            </a:r>
            <a:br>
              <a:rPr lang="en-US" dirty="0" smtClean="0"/>
            </a:br>
            <a:r>
              <a:rPr lang="en-US" dirty="0" smtClean="0"/>
              <a:t>▪ They </a:t>
            </a:r>
            <a:r>
              <a:rPr lang="en-US" i="1" dirty="0" smtClean="0"/>
              <a:t>suspended</a:t>
            </a:r>
            <a:r>
              <a:rPr lang="en-US" dirty="0" smtClean="0"/>
              <a:t> the lantern from the ceiling. ▪ A pot of stew was </a:t>
            </a:r>
            <a:r>
              <a:rPr lang="en-US" i="1" dirty="0" smtClean="0"/>
              <a:t>suspended</a:t>
            </a:r>
            <a:r>
              <a:rPr lang="en-US" dirty="0" smtClean="0"/>
              <a:t> over the fire. ▪ a </a:t>
            </a:r>
            <a:r>
              <a:rPr lang="en-US" dirty="0" err="1" smtClean="0"/>
              <a:t>wire</a:t>
            </a:r>
            <a:r>
              <a:rPr lang="en-US" b="1" dirty="0" err="1" smtClean="0"/>
              <a:t>suspended</a:t>
            </a:r>
            <a:r>
              <a:rPr lang="en-US" b="1" dirty="0" smtClean="0"/>
              <a:t> between</a:t>
            </a:r>
            <a:r>
              <a:rPr lang="en-US" dirty="0" smtClean="0"/>
              <a:t> two poles [=hung so that it is attached at each end to a pole] </a:t>
            </a:r>
            <a:br>
              <a:rPr lang="en-US" dirty="0" smtClean="0"/>
            </a:br>
            <a:r>
              <a:rPr lang="en-US" b="1" dirty="0" smtClean="0"/>
              <a:t>b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prevent (something) from falling or sinking by some invisible support — usually used as</a:t>
            </a:r>
            <a:r>
              <a:rPr lang="en-US" i="1" dirty="0" smtClean="0"/>
              <a:t>(be) suspended</a:t>
            </a:r>
            <a:r>
              <a:rPr lang="en-US" dirty="0" smtClean="0"/>
              <a:t> ▪ Dust </a:t>
            </a:r>
            <a:r>
              <a:rPr lang="en-US" i="1" dirty="0" smtClean="0"/>
              <a:t>was suspended</a:t>
            </a:r>
            <a:r>
              <a:rPr lang="en-US" dirty="0" smtClean="0"/>
              <a:t> [=was floating] in the air. ▪ The structure appears to </a:t>
            </a:r>
            <a:r>
              <a:rPr lang="en-US" i="1" dirty="0" smtClean="0"/>
              <a:t>be suspended</a:t>
            </a:r>
            <a:r>
              <a:rPr lang="en-US" dirty="0" smtClean="0"/>
              <a:t> in space.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>Academic</a:t>
            </a:r>
            <a:r>
              <a:rPr lang="en-US" sz="6000" dirty="0" smtClean="0"/>
              <a:t> </a:t>
            </a:r>
            <a:r>
              <a:rPr lang="en-US" dirty="0" smtClean="0"/>
              <a:t>/ </a:t>
            </a:r>
            <a:r>
              <a:rPr lang="en-US" sz="3600" dirty="0" smtClean="0"/>
              <a:t>adjective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1</a:t>
            </a:r>
            <a:r>
              <a:rPr lang="en-US" dirty="0" smtClean="0"/>
              <a:t> </a:t>
            </a:r>
            <a:r>
              <a:rPr lang="en-US" i="1" dirty="0" smtClean="0"/>
              <a:t>usually used before a noun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of or relating to schools and education </a:t>
            </a:r>
            <a:br>
              <a:rPr lang="en-US" dirty="0" smtClean="0"/>
            </a:br>
            <a:r>
              <a:rPr lang="en-US" dirty="0" smtClean="0"/>
              <a:t>▪ She received awards for her </a:t>
            </a:r>
            <a:r>
              <a:rPr lang="en-US" i="1" dirty="0" smtClean="0"/>
              <a:t>academic</a:t>
            </a:r>
            <a:r>
              <a:rPr lang="en-US" dirty="0" smtClean="0"/>
              <a:t> achievements/accomplishments. ▪ I spent my </a:t>
            </a:r>
            <a:r>
              <a:rPr lang="en-US" i="1" dirty="0" smtClean="0"/>
              <a:t>academic</a:t>
            </a:r>
            <a:r>
              <a:rPr lang="en-US" dirty="0" smtClean="0"/>
              <a:t> career at one school. ▪ The board set tough </a:t>
            </a:r>
            <a:r>
              <a:rPr lang="en-US" i="1" dirty="0" smtClean="0"/>
              <a:t>academic</a:t>
            </a:r>
            <a:r>
              <a:rPr lang="en-US" dirty="0" smtClean="0"/>
              <a:t> standards for graduation. ▪ He was offered a teaching job and decided to return to </a:t>
            </a:r>
            <a:r>
              <a:rPr lang="en-US" i="1" dirty="0" smtClean="0"/>
              <a:t>academic</a:t>
            </a:r>
            <a:r>
              <a:rPr lang="en-US" dirty="0" smtClean="0"/>
              <a:t> life.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having no practical importance </a:t>
            </a:r>
            <a:r>
              <a:rPr lang="en-US" b="1" dirty="0" smtClean="0"/>
              <a:t>:</a:t>
            </a:r>
            <a:r>
              <a:rPr lang="en-US" dirty="0" smtClean="0"/>
              <a:t> not involving or relating to anything real or practical </a:t>
            </a:r>
            <a:br>
              <a:rPr lang="en-US" dirty="0" smtClean="0"/>
            </a:br>
            <a:r>
              <a:rPr lang="en-US" dirty="0" smtClean="0"/>
              <a:t>▪ His interest in sailing is purely </a:t>
            </a:r>
            <a:r>
              <a:rPr lang="en-US" i="1" dirty="0" smtClean="0"/>
              <a:t>academic</a:t>
            </a:r>
            <a:r>
              <a:rPr lang="en-US" dirty="0" smtClean="0"/>
              <a:t>. He's not a sailor himself. ▪ It was a question of </a:t>
            </a:r>
            <a:r>
              <a:rPr lang="en-US" dirty="0" err="1" smtClean="0"/>
              <a:t>only</a:t>
            </a:r>
            <a:r>
              <a:rPr lang="en-US" i="1" dirty="0" err="1" smtClean="0"/>
              <a:t>academic</a:t>
            </a:r>
            <a:r>
              <a:rPr lang="en-US" dirty="0" smtClean="0"/>
              <a:t> [=</a:t>
            </a:r>
            <a:r>
              <a:rPr lang="en-US" i="1" dirty="0" smtClean="0"/>
              <a:t>theoretical</a:t>
            </a:r>
            <a:r>
              <a:rPr lang="en-US" dirty="0" smtClean="0"/>
              <a:t>] interest.</a:t>
            </a:r>
          </a:p>
          <a:p>
            <a:r>
              <a:rPr lang="en-US" b="1" dirty="0" smtClean="0"/>
              <a:t>3</a:t>
            </a:r>
            <a:r>
              <a:rPr lang="en-US" dirty="0" smtClean="0"/>
              <a:t> [</a:t>
            </a:r>
            <a:r>
              <a:rPr lang="en-US" i="1" dirty="0" smtClean="0"/>
              <a:t>more academic; most academic</a:t>
            </a:r>
            <a:r>
              <a:rPr lang="en-US" dirty="0" smtClean="0"/>
              <a:t>] </a:t>
            </a:r>
            <a:r>
              <a:rPr lang="en-US" i="1" dirty="0" smtClean="0"/>
              <a:t>chiefly Brit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good at studying and at passing exams </a:t>
            </a:r>
            <a:r>
              <a:rPr lang="en-US" b="1" dirty="0" smtClean="0"/>
              <a:t>:</a:t>
            </a:r>
            <a:r>
              <a:rPr lang="en-US" dirty="0" smtClean="0"/>
              <a:t>good at academics </a:t>
            </a:r>
            <a:br>
              <a:rPr lang="en-US" dirty="0" smtClean="0"/>
            </a:br>
            <a:r>
              <a:rPr lang="en-US" dirty="0" smtClean="0"/>
              <a:t>▪ He's not very </a:t>
            </a:r>
            <a:r>
              <a:rPr lang="en-US" i="1" dirty="0" smtClean="0"/>
              <a:t>academic</a:t>
            </a:r>
            <a:r>
              <a:rPr lang="en-US" dirty="0" smtClean="0"/>
              <a:t>, but he's good with his hands.</a:t>
            </a:r>
          </a:p>
          <a:p>
            <a:r>
              <a:rPr lang="en-US" b="1" dirty="0" smtClean="0"/>
              <a:t>— academically</a:t>
            </a:r>
            <a:r>
              <a:rPr lang="en-US" dirty="0" smtClean="0"/>
              <a:t>  / </a:t>
            </a:r>
            <a:r>
              <a:rPr lang="en-US" i="1" dirty="0" smtClean="0"/>
              <a:t>adverb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▪ He did well enough </a:t>
            </a:r>
            <a:r>
              <a:rPr lang="en-US" i="1" dirty="0" smtClean="0"/>
              <a:t>academically</a:t>
            </a:r>
            <a:r>
              <a:rPr lang="en-US" dirty="0" smtClean="0"/>
              <a:t> to be accepted at many colleges. ▪ an </a:t>
            </a:r>
            <a:r>
              <a:rPr lang="en-US" i="1" dirty="0" smtClean="0"/>
              <a:t>academically</a:t>
            </a:r>
            <a:r>
              <a:rPr lang="en-US" dirty="0" smtClean="0"/>
              <a:t> gifted student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>Flimsy</a:t>
            </a:r>
            <a:r>
              <a:rPr lang="en-US" dirty="0" smtClean="0"/>
              <a:t> / </a:t>
            </a:r>
            <a:r>
              <a:rPr lang="en-US" sz="3100" dirty="0" smtClean="0"/>
              <a:t>adjective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flimsier;</a:t>
            </a:r>
            <a:r>
              <a:rPr lang="en-US" dirty="0" smtClean="0"/>
              <a:t> </a:t>
            </a:r>
            <a:r>
              <a:rPr lang="en-US" b="1" dirty="0" smtClean="0"/>
              <a:t>flimsiest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also more flimsy; most flimsy</a:t>
            </a:r>
            <a:r>
              <a:rPr lang="en-US" dirty="0" smtClean="0"/>
              <a:t>] </a:t>
            </a:r>
            <a:r>
              <a:rPr lang="en-US" b="1" dirty="0" smtClean="0"/>
              <a:t>1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easily broken, torn, etc. </a:t>
            </a:r>
            <a:r>
              <a:rPr lang="en-US" b="1" dirty="0" smtClean="0"/>
              <a:t>:</a:t>
            </a:r>
            <a:r>
              <a:rPr lang="en-US" dirty="0" smtClean="0"/>
              <a:t> not strong or solid </a:t>
            </a:r>
            <a:br>
              <a:rPr lang="en-US" dirty="0" smtClean="0"/>
            </a:br>
            <a:r>
              <a:rPr lang="en-US" dirty="0" smtClean="0"/>
              <a:t>▪ a </a:t>
            </a:r>
            <a:r>
              <a:rPr lang="en-US" i="1" dirty="0" smtClean="0"/>
              <a:t>flimsy</a:t>
            </a:r>
            <a:r>
              <a:rPr lang="en-US" dirty="0" smtClean="0"/>
              <a:t> building ▪ </a:t>
            </a:r>
            <a:r>
              <a:rPr lang="en-US" i="1" dirty="0" smtClean="0"/>
              <a:t>flimsy</a:t>
            </a:r>
            <a:r>
              <a:rPr lang="en-US" dirty="0" smtClean="0"/>
              <a:t> construction ▪ a </a:t>
            </a:r>
            <a:r>
              <a:rPr lang="en-US" i="1" dirty="0" smtClean="0"/>
              <a:t>flimsy</a:t>
            </a:r>
            <a:r>
              <a:rPr lang="en-US" dirty="0" smtClean="0"/>
              <a:t> piece of material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not likely to be true or to be believed </a:t>
            </a:r>
            <a:br>
              <a:rPr lang="en-US" dirty="0" smtClean="0"/>
            </a:br>
            <a:r>
              <a:rPr lang="en-US" dirty="0" smtClean="0"/>
              <a:t>▪ a </a:t>
            </a:r>
            <a:r>
              <a:rPr lang="en-US" i="1" dirty="0" smtClean="0"/>
              <a:t>flimsy</a:t>
            </a:r>
            <a:r>
              <a:rPr lang="en-US" dirty="0" smtClean="0"/>
              <a:t> [=</a:t>
            </a:r>
            <a:r>
              <a:rPr lang="en-US" i="1" dirty="0" smtClean="0"/>
              <a:t>weak</a:t>
            </a:r>
            <a:r>
              <a:rPr lang="en-US" dirty="0" smtClean="0"/>
              <a:t>] excuse ▪ They have only the </a:t>
            </a:r>
            <a:r>
              <a:rPr lang="en-US" i="1" dirty="0" smtClean="0"/>
              <a:t>flimsiest</a:t>
            </a:r>
            <a:r>
              <a:rPr lang="en-US" dirty="0" smtClean="0"/>
              <a:t> of evidence against him. ▪ a movie with </a:t>
            </a:r>
            <a:r>
              <a:rPr lang="en-US" dirty="0" err="1" smtClean="0"/>
              <a:t>a</a:t>
            </a:r>
            <a:r>
              <a:rPr lang="en-US" i="1" dirty="0" err="1" smtClean="0"/>
              <a:t>flimsy</a:t>
            </a:r>
            <a:r>
              <a:rPr lang="en-US" dirty="0" smtClean="0"/>
              <a:t> plot</a:t>
            </a:r>
          </a:p>
          <a:p>
            <a:r>
              <a:rPr lang="en-US" b="1" dirty="0" smtClean="0"/>
              <a:t>— flimsily</a:t>
            </a:r>
            <a:r>
              <a:rPr lang="en-US" dirty="0" smtClean="0"/>
              <a:t> / </a:t>
            </a:r>
            <a:r>
              <a:rPr lang="en-US" i="1" dirty="0" smtClean="0"/>
              <a:t>adverb</a:t>
            </a:r>
            <a:r>
              <a:rPr lang="en-US" dirty="0" smtClean="0"/>
              <a:t> [</a:t>
            </a:r>
            <a:r>
              <a:rPr lang="en-US" i="1" dirty="0" smtClean="0"/>
              <a:t>more flimsily; most flimsily</a:t>
            </a:r>
            <a:r>
              <a:rPr lang="en-US" dirty="0" smtClean="0"/>
              <a:t>] </a:t>
            </a:r>
            <a:br>
              <a:rPr lang="en-US" dirty="0" smtClean="0"/>
            </a:br>
            <a:r>
              <a:rPr lang="en-US" dirty="0" smtClean="0"/>
              <a:t>▪ </a:t>
            </a:r>
            <a:r>
              <a:rPr lang="en-US" i="1" dirty="0" smtClean="0"/>
              <a:t>flimsily</a:t>
            </a:r>
            <a:r>
              <a:rPr lang="en-US" dirty="0" smtClean="0"/>
              <a:t> [=</a:t>
            </a:r>
            <a:r>
              <a:rPr lang="en-US" i="1" dirty="0" smtClean="0"/>
              <a:t>weakly</a:t>
            </a:r>
            <a:r>
              <a:rPr lang="en-US" dirty="0" smtClean="0"/>
              <a:t>] constructed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>Demonstrable</a:t>
            </a:r>
            <a:r>
              <a:rPr lang="en-US" sz="8000" dirty="0" smtClean="0"/>
              <a:t> </a:t>
            </a:r>
            <a:r>
              <a:rPr lang="en-US" dirty="0" smtClean="0"/>
              <a:t>/ </a:t>
            </a:r>
            <a:r>
              <a:rPr lang="en-US" sz="3600" dirty="0" smtClean="0"/>
              <a:t>adjective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[</a:t>
            </a:r>
            <a:r>
              <a:rPr lang="en-US" i="1" dirty="0" smtClean="0"/>
              <a:t>more demonstrable; most demonstrable</a:t>
            </a:r>
            <a:r>
              <a:rPr lang="en-US" dirty="0" smtClean="0"/>
              <a:t>] </a:t>
            </a:r>
            <a:r>
              <a:rPr lang="en-US" i="1" dirty="0" smtClean="0"/>
              <a:t>formal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able to be proven or shown </a:t>
            </a:r>
            <a:r>
              <a:rPr lang="en-US" b="1" dirty="0" smtClean="0"/>
              <a:t>:</a:t>
            </a:r>
            <a:r>
              <a:rPr lang="en-US" dirty="0" smtClean="0"/>
              <a:t> possible to demonstrate </a:t>
            </a:r>
            <a:br>
              <a:rPr lang="en-US" dirty="0" smtClean="0"/>
            </a:br>
            <a:r>
              <a:rPr lang="en-US" dirty="0" smtClean="0"/>
              <a:t>▪ There is no </a:t>
            </a:r>
            <a:r>
              <a:rPr lang="en-US" i="1" dirty="0" smtClean="0"/>
              <a:t>demonstrable</a:t>
            </a:r>
            <a:r>
              <a:rPr lang="en-US" dirty="0" smtClean="0"/>
              <a:t> evidence that the treatment is effective. ▪ a clearly </a:t>
            </a:r>
            <a:r>
              <a:rPr lang="en-US" i="1" dirty="0" err="1" smtClean="0"/>
              <a:t>demonstrable</a:t>
            </a:r>
            <a:r>
              <a:rPr lang="en-US" dirty="0" err="1" smtClean="0"/>
              <a:t>improvement</a:t>
            </a:r>
            <a:endParaRPr lang="en-US" dirty="0" smtClean="0"/>
          </a:p>
          <a:p>
            <a:r>
              <a:rPr lang="en-US" b="1" dirty="0" smtClean="0"/>
              <a:t>— demonstrably</a:t>
            </a:r>
            <a:r>
              <a:rPr lang="en-US" dirty="0" smtClean="0"/>
              <a:t> / </a:t>
            </a:r>
            <a:r>
              <a:rPr lang="en-US" i="1" dirty="0" smtClean="0"/>
              <a:t>adverb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▪ The statements are </a:t>
            </a:r>
            <a:r>
              <a:rPr lang="en-US" i="1" dirty="0" smtClean="0"/>
              <a:t>demonstrably</a:t>
            </a:r>
            <a:r>
              <a:rPr lang="en-US" dirty="0" smtClean="0"/>
              <a:t> untrue/false.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>Ineluctable</a:t>
            </a:r>
            <a:r>
              <a:rPr lang="en-US" dirty="0" smtClean="0"/>
              <a:t> / </a:t>
            </a:r>
            <a:r>
              <a:rPr lang="en-US" sz="3100" dirty="0" smtClean="0"/>
              <a:t>adjective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formal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not able to be avoided or changed </a:t>
            </a:r>
            <a:br>
              <a:rPr lang="en-US" dirty="0" smtClean="0"/>
            </a:br>
            <a:r>
              <a:rPr lang="en-US" dirty="0" smtClean="0"/>
              <a:t>▪ You cannot escape an </a:t>
            </a:r>
            <a:r>
              <a:rPr lang="en-US" i="1" dirty="0" smtClean="0"/>
              <a:t>ineluctable</a:t>
            </a:r>
            <a:r>
              <a:rPr lang="en-US" dirty="0" smtClean="0"/>
              <a:t> [=</a:t>
            </a:r>
            <a:r>
              <a:rPr lang="en-US" i="1" dirty="0" smtClean="0"/>
              <a:t>unavoidable</a:t>
            </a:r>
            <a:r>
              <a:rPr lang="en-US" dirty="0" smtClean="0"/>
              <a:t>] fate. ▪ an </a:t>
            </a:r>
            <a:r>
              <a:rPr lang="en-US" i="1" dirty="0" smtClean="0"/>
              <a:t>ineluctable</a:t>
            </a:r>
            <a:r>
              <a:rPr lang="en-US" dirty="0" smtClean="0"/>
              <a:t> conclusion</a:t>
            </a:r>
          </a:p>
          <a:p>
            <a:r>
              <a:rPr lang="en-US" b="1" dirty="0" smtClean="0"/>
              <a:t>ineluctably</a:t>
            </a:r>
            <a:r>
              <a:rPr lang="en-US" dirty="0" smtClean="0"/>
              <a:t> </a:t>
            </a:r>
            <a:r>
              <a:rPr lang="en-US" i="1" dirty="0" smtClean="0"/>
              <a:t>adverb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>Elusive</a:t>
            </a:r>
            <a:r>
              <a:rPr lang="en-US" dirty="0" smtClean="0"/>
              <a:t> /</a:t>
            </a:r>
            <a:r>
              <a:rPr lang="en-US" sz="3600" dirty="0" smtClean="0"/>
              <a:t> adjective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[</a:t>
            </a:r>
            <a:r>
              <a:rPr lang="en-US" i="1" dirty="0" smtClean="0"/>
              <a:t>more elusive; most elusive</a:t>
            </a:r>
            <a:r>
              <a:rPr lang="en-US" dirty="0" smtClean="0"/>
              <a:t>] </a:t>
            </a:r>
            <a:r>
              <a:rPr lang="en-US" b="1" dirty="0" smtClean="0"/>
              <a:t>1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hard to find or capture </a:t>
            </a:r>
            <a:br>
              <a:rPr lang="en-US" dirty="0" smtClean="0"/>
            </a:br>
            <a:r>
              <a:rPr lang="en-US" dirty="0" smtClean="0"/>
              <a:t>▪ </a:t>
            </a:r>
            <a:r>
              <a:rPr lang="en-US" i="1" dirty="0" smtClean="0"/>
              <a:t>elusive</a:t>
            </a:r>
            <a:r>
              <a:rPr lang="en-US" dirty="0" smtClean="0"/>
              <a:t> creatures ▪ The solution remains </a:t>
            </a:r>
            <a:r>
              <a:rPr lang="en-US" i="1" dirty="0" smtClean="0"/>
              <a:t>elusive</a:t>
            </a:r>
            <a:r>
              <a:rPr lang="en-US" dirty="0" smtClean="0"/>
              <a:t>. ▪ The truth may prove </a:t>
            </a:r>
            <a:r>
              <a:rPr lang="en-US" i="1" dirty="0" smtClean="0"/>
              <a:t>elusive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hard to understand, define, or remember </a:t>
            </a:r>
            <a:br>
              <a:rPr lang="en-US" dirty="0" smtClean="0"/>
            </a:br>
            <a:r>
              <a:rPr lang="en-US" dirty="0" smtClean="0"/>
              <a:t>▪ an </a:t>
            </a:r>
            <a:r>
              <a:rPr lang="en-US" i="1" dirty="0" smtClean="0"/>
              <a:t>elusive</a:t>
            </a:r>
            <a:r>
              <a:rPr lang="en-US" dirty="0" smtClean="0"/>
              <a:t> concept/idea/name</a:t>
            </a:r>
          </a:p>
          <a:p>
            <a:r>
              <a:rPr lang="en-US" b="1" dirty="0" smtClean="0"/>
              <a:t>elusively</a:t>
            </a:r>
            <a:r>
              <a:rPr lang="en-US" dirty="0" smtClean="0"/>
              <a:t> </a:t>
            </a:r>
            <a:r>
              <a:rPr lang="en-US" i="1" dirty="0" smtClean="0"/>
              <a:t>adverb</a:t>
            </a:r>
            <a:endParaRPr lang="en-US" dirty="0" smtClean="0"/>
          </a:p>
          <a:p>
            <a:r>
              <a:rPr lang="en-US" b="1" dirty="0" smtClean="0"/>
              <a:t>elusiveness</a:t>
            </a:r>
            <a:r>
              <a:rPr lang="en-US" dirty="0" smtClean="0"/>
              <a:t> </a:t>
            </a:r>
            <a:r>
              <a:rPr lang="en-US" i="1" dirty="0" smtClean="0"/>
              <a:t>noun</a:t>
            </a:r>
            <a:r>
              <a:rPr lang="en-US" dirty="0" smtClean="0"/>
              <a:t> [</a:t>
            </a:r>
            <a:r>
              <a:rPr lang="en-US" i="1" dirty="0" err="1" smtClean="0"/>
              <a:t>noncount</a:t>
            </a:r>
            <a:r>
              <a:rPr lang="en-US" dirty="0" smtClean="0"/>
              <a:t>] </a:t>
            </a:r>
            <a:br>
              <a:rPr lang="en-US" dirty="0" smtClean="0"/>
            </a:br>
            <a:r>
              <a:rPr lang="en-US" dirty="0" smtClean="0"/>
              <a:t>▪ the </a:t>
            </a:r>
            <a:r>
              <a:rPr lang="en-US" i="1" dirty="0" smtClean="0"/>
              <a:t>elusiveness</a:t>
            </a:r>
            <a:r>
              <a:rPr lang="en-US" dirty="0" smtClean="0"/>
              <a:t> of truth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/>
            </a:r>
            <a:br>
              <a:rPr lang="en-US" sz="6700" b="1" dirty="0" smtClean="0"/>
            </a:br>
            <a:r>
              <a:rPr lang="en-US" sz="6700" b="1" dirty="0" smtClean="0"/>
              <a:t>Analogous</a:t>
            </a:r>
            <a:r>
              <a:rPr lang="en-US" sz="6700" dirty="0" smtClean="0"/>
              <a:t> </a:t>
            </a:r>
            <a:r>
              <a:rPr lang="en-US" dirty="0" smtClean="0"/>
              <a:t>/ </a:t>
            </a:r>
            <a:r>
              <a:rPr lang="en-US" sz="2700" dirty="0" smtClean="0"/>
              <a:t>adjective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[</a:t>
            </a:r>
            <a:r>
              <a:rPr lang="en-US" i="1" dirty="0" smtClean="0"/>
              <a:t>more analogous; most analogous</a:t>
            </a:r>
            <a:r>
              <a:rPr lang="en-US" dirty="0" smtClean="0"/>
              <a:t>] </a:t>
            </a:r>
            <a:r>
              <a:rPr lang="en-US" i="1" dirty="0" smtClean="0"/>
              <a:t>formal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similar in some way </a:t>
            </a:r>
            <a:br>
              <a:rPr lang="en-US" dirty="0" smtClean="0"/>
            </a:br>
            <a:r>
              <a:rPr lang="en-US" dirty="0" smtClean="0"/>
              <a:t>▪ I could not think of an </a:t>
            </a:r>
            <a:r>
              <a:rPr lang="en-US" i="1" dirty="0" smtClean="0"/>
              <a:t>analogous</a:t>
            </a:r>
            <a:r>
              <a:rPr lang="en-US" dirty="0" smtClean="0"/>
              <a:t> situation. — usually + </a:t>
            </a:r>
            <a:r>
              <a:rPr lang="en-US" i="1" dirty="0" smtClean="0"/>
              <a:t>to</a:t>
            </a:r>
            <a:r>
              <a:rPr lang="en-US" dirty="0" smtClean="0"/>
              <a:t> ▪ I could not think of a </a:t>
            </a:r>
            <a:r>
              <a:rPr lang="en-US" dirty="0" err="1" smtClean="0"/>
              <a:t>situation</a:t>
            </a:r>
            <a:r>
              <a:rPr lang="en-US" i="1" dirty="0" err="1" smtClean="0"/>
              <a:t>analogous</a:t>
            </a:r>
            <a:r>
              <a:rPr lang="en-US" i="1" dirty="0" smtClean="0"/>
              <a:t> to</a:t>
            </a:r>
            <a:r>
              <a:rPr lang="en-US" dirty="0" smtClean="0"/>
              <a:t> this one. ▪ The telescope's lenses are </a:t>
            </a:r>
            <a:r>
              <a:rPr lang="en-US" i="1" dirty="0" smtClean="0"/>
              <a:t>analogous</a:t>
            </a:r>
            <a:r>
              <a:rPr lang="en-US" dirty="0" smtClean="0"/>
              <a:t> [=</a:t>
            </a:r>
            <a:r>
              <a:rPr lang="en-US" i="1" dirty="0" smtClean="0"/>
              <a:t>comparable</a:t>
            </a:r>
            <a:r>
              <a:rPr lang="en-US" dirty="0" smtClean="0"/>
              <a:t>] </a:t>
            </a:r>
            <a:r>
              <a:rPr lang="en-US" i="1" dirty="0" smtClean="0"/>
              <a:t>to</a:t>
            </a:r>
            <a:r>
              <a:rPr lang="en-US" dirty="0" smtClean="0"/>
              <a:t> a person's glasses. ▪Think of the process as </a:t>
            </a:r>
            <a:r>
              <a:rPr lang="en-US" i="1" dirty="0" smtClean="0"/>
              <a:t>analogous to</a:t>
            </a:r>
            <a:r>
              <a:rPr lang="en-US" dirty="0" smtClean="0"/>
              <a:t> [=</a:t>
            </a:r>
            <a:r>
              <a:rPr lang="en-US" i="1" dirty="0" smtClean="0"/>
              <a:t>like</a:t>
            </a:r>
            <a:r>
              <a:rPr lang="en-US" dirty="0" smtClean="0"/>
              <a:t>] riding a bike.</a:t>
            </a:r>
          </a:p>
          <a:p>
            <a:r>
              <a:rPr lang="en-US" b="1" dirty="0" smtClean="0"/>
              <a:t> analogously</a:t>
            </a:r>
            <a:r>
              <a:rPr lang="en-US" dirty="0" smtClean="0"/>
              <a:t> </a:t>
            </a:r>
            <a:r>
              <a:rPr lang="en-US" i="1" dirty="0" smtClean="0"/>
              <a:t>adverb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en-US" sz="6600" b="1" dirty="0" smtClean="0"/>
              <a:t>Overblown</a:t>
            </a:r>
            <a:r>
              <a:rPr lang="en-US" sz="6600" dirty="0" smtClean="0"/>
              <a:t>  </a:t>
            </a:r>
            <a:r>
              <a:rPr lang="en-US" dirty="0" smtClean="0"/>
              <a:t>/ </a:t>
            </a:r>
            <a:r>
              <a:rPr lang="en-US" sz="3600" dirty="0" smtClean="0"/>
              <a:t>adjective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</a:t>
            </a:r>
            <a:r>
              <a:rPr lang="en-US" i="1" dirty="0" smtClean="0"/>
              <a:t>more overblown; most overblown</a:t>
            </a:r>
            <a:r>
              <a:rPr lang="en-US" dirty="0" smtClean="0"/>
              <a:t>] </a:t>
            </a:r>
            <a:r>
              <a:rPr lang="en-US" i="1" dirty="0" smtClean="0"/>
              <a:t>disapproving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made to seem very important, intelligent, or great especially in order to impress people </a:t>
            </a:r>
            <a:br>
              <a:rPr lang="en-US" dirty="0" smtClean="0"/>
            </a:br>
            <a:r>
              <a:rPr lang="en-US" dirty="0" smtClean="0"/>
              <a:t>▪ </a:t>
            </a:r>
            <a:r>
              <a:rPr lang="en-US" i="1" dirty="0" smtClean="0"/>
              <a:t>overblown</a:t>
            </a:r>
            <a:r>
              <a:rPr lang="en-US" dirty="0" smtClean="0"/>
              <a:t> [=</a:t>
            </a:r>
            <a:r>
              <a:rPr lang="en-US" i="1" dirty="0" smtClean="0"/>
              <a:t>pretentious</a:t>
            </a:r>
            <a:r>
              <a:rPr lang="en-US" dirty="0" smtClean="0"/>
              <a:t>] claims/rhetoric ▪ The problem is </a:t>
            </a:r>
            <a:r>
              <a:rPr lang="en-US" i="1" dirty="0" smtClean="0"/>
              <a:t>overblown</a:t>
            </a:r>
            <a:r>
              <a:rPr lang="en-US" dirty="0" smtClean="0"/>
              <a:t>. [=it has been exaggerated; it is not as bad as people say it is]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>Disentangle</a:t>
            </a:r>
            <a:r>
              <a:rPr lang="en-US" b="1" dirty="0" smtClean="0"/>
              <a:t>/</a:t>
            </a:r>
            <a:r>
              <a:rPr lang="en-US" dirty="0" smtClean="0"/>
              <a:t> </a:t>
            </a:r>
            <a:r>
              <a:rPr lang="en-US" b="1" dirty="0" smtClean="0"/>
              <a:t>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disentangles;</a:t>
            </a:r>
            <a:r>
              <a:rPr lang="en-US" dirty="0" smtClean="0"/>
              <a:t> </a:t>
            </a:r>
            <a:r>
              <a:rPr lang="en-US" b="1" dirty="0" smtClean="0"/>
              <a:t>disentangled;</a:t>
            </a:r>
            <a:r>
              <a:rPr lang="en-US" dirty="0" smtClean="0"/>
              <a:t> </a:t>
            </a:r>
            <a:r>
              <a:rPr lang="en-US" b="1" dirty="0" smtClean="0"/>
              <a:t>disentangling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1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separate (things that are twisted together or caught on one another) </a:t>
            </a:r>
            <a:br>
              <a:rPr lang="en-US" dirty="0" smtClean="0"/>
            </a:br>
            <a:r>
              <a:rPr lang="en-US" dirty="0" smtClean="0"/>
              <a:t>▪ I can't </a:t>
            </a:r>
            <a:r>
              <a:rPr lang="en-US" i="1" dirty="0" smtClean="0"/>
              <a:t>disentangle</a:t>
            </a:r>
            <a:r>
              <a:rPr lang="en-US" dirty="0" smtClean="0"/>
              <a:t> [=</a:t>
            </a:r>
            <a:r>
              <a:rPr lang="en-US" i="1" dirty="0" smtClean="0"/>
              <a:t>untangle</a:t>
            </a:r>
            <a:r>
              <a:rPr lang="en-US" dirty="0" smtClean="0"/>
              <a:t>] the wires/hangers. — often + </a:t>
            </a:r>
            <a:r>
              <a:rPr lang="en-US" i="1" dirty="0" smtClean="0"/>
              <a:t>from</a:t>
            </a:r>
            <a:r>
              <a:rPr lang="en-US" dirty="0" smtClean="0"/>
              <a:t> ▪ She was trying to </a:t>
            </a:r>
            <a:r>
              <a:rPr lang="en-US" i="1" dirty="0" err="1" smtClean="0"/>
              <a:t>disentangle</a:t>
            </a:r>
            <a:r>
              <a:rPr lang="en-US" dirty="0" err="1" smtClean="0"/>
              <a:t>her</a:t>
            </a:r>
            <a:r>
              <a:rPr lang="en-US" dirty="0" smtClean="0"/>
              <a:t> hair </a:t>
            </a:r>
            <a:r>
              <a:rPr lang="en-US" i="1" dirty="0" smtClean="0"/>
              <a:t>from</a:t>
            </a:r>
            <a:r>
              <a:rPr lang="en-US" dirty="0" smtClean="0"/>
              <a:t> her necklace. — often used figuratively ▪ She finally </a:t>
            </a:r>
            <a:r>
              <a:rPr lang="en-US" i="1" dirty="0" smtClean="0"/>
              <a:t>disentangled</a:t>
            </a:r>
            <a:r>
              <a:rPr lang="en-US" dirty="0" smtClean="0"/>
              <a:t> herself </a:t>
            </a:r>
            <a:r>
              <a:rPr lang="en-US" i="1" dirty="0" smtClean="0"/>
              <a:t>from</a:t>
            </a:r>
            <a:r>
              <a:rPr lang="en-US" dirty="0" smtClean="0"/>
              <a:t> a bad relationship.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remove the twists or knots in (something) </a:t>
            </a:r>
            <a:br>
              <a:rPr lang="en-US" dirty="0" smtClean="0"/>
            </a:br>
            <a:r>
              <a:rPr lang="en-US" dirty="0" smtClean="0"/>
              <a:t>▪ </a:t>
            </a:r>
            <a:r>
              <a:rPr lang="en-US" i="1" dirty="0" smtClean="0"/>
              <a:t>disentangle</a:t>
            </a:r>
            <a:r>
              <a:rPr lang="en-US" dirty="0" smtClean="0"/>
              <a:t> [=</a:t>
            </a:r>
            <a:r>
              <a:rPr lang="en-US" i="1" dirty="0" smtClean="0"/>
              <a:t>untangle</a:t>
            </a:r>
            <a:r>
              <a:rPr lang="en-US" dirty="0" smtClean="0"/>
              <a:t>] a knotted string/rope</a:t>
            </a:r>
          </a:p>
          <a:p>
            <a:r>
              <a:rPr lang="en-US" b="1" dirty="0" smtClean="0"/>
              <a:t>disentanglement</a:t>
            </a:r>
            <a:r>
              <a:rPr lang="en-US" dirty="0" smtClean="0"/>
              <a:t> / </a:t>
            </a:r>
            <a:r>
              <a:rPr lang="en-US" i="1" dirty="0" smtClean="0"/>
              <a:t>noun</a:t>
            </a:r>
            <a:r>
              <a:rPr lang="en-US" dirty="0" smtClean="0"/>
              <a:t> [</a:t>
            </a:r>
            <a:r>
              <a:rPr lang="en-US" i="1" dirty="0" err="1" smtClean="0"/>
              <a:t>noncount</a:t>
            </a:r>
            <a:r>
              <a:rPr lang="en-US" dirty="0" smtClean="0"/>
              <a:t>]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/>
            </a:r>
            <a:br>
              <a:rPr lang="en-US" sz="8900" b="1" dirty="0" smtClean="0"/>
            </a:br>
            <a:r>
              <a:rPr lang="en-US" sz="8900" b="1" dirty="0" smtClean="0"/>
              <a:t>Skein</a:t>
            </a:r>
            <a:r>
              <a:rPr lang="en-US" dirty="0" smtClean="0"/>
              <a:t>  / </a:t>
            </a:r>
            <a:r>
              <a:rPr lang="en-US" sz="3600" dirty="0" smtClean="0"/>
              <a:t>noun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plural</a:t>
            </a:r>
            <a:r>
              <a:rPr lang="en-US" dirty="0" smtClean="0"/>
              <a:t> </a:t>
            </a:r>
            <a:r>
              <a:rPr lang="en-US" b="1" dirty="0" smtClean="0"/>
              <a:t>skeins </a:t>
            </a:r>
            <a:r>
              <a:rPr lang="en-US" dirty="0" smtClean="0"/>
              <a:t>[</a:t>
            </a:r>
            <a:r>
              <a:rPr lang="en-US" i="1" dirty="0" smtClean="0"/>
              <a:t>count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a long piece of yarn or thread that is loosely wound — compare </a:t>
            </a:r>
            <a:r>
              <a:rPr lang="en-US" cap="small" dirty="0" smtClean="0">
                <a:hlinkClick r:id="rId2"/>
              </a:rPr>
              <a:t>hank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8000" b="1" dirty="0" smtClean="0"/>
              <a:t>Brandish </a:t>
            </a:r>
            <a:r>
              <a:rPr lang="en-US" sz="8000" dirty="0" smtClean="0"/>
              <a:t>/ </a:t>
            </a:r>
            <a:r>
              <a:rPr lang="en-US" sz="8000" b="1" dirty="0" smtClean="0"/>
              <a:t>verb</a:t>
            </a:r>
            <a:r>
              <a:rPr lang="en-US" sz="8000" dirty="0" smtClean="0"/>
              <a:t/>
            </a:r>
            <a:br>
              <a:rPr lang="en-US" sz="80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brandishes;</a:t>
            </a:r>
            <a:r>
              <a:rPr lang="en-US" dirty="0" smtClean="0"/>
              <a:t> </a:t>
            </a:r>
            <a:r>
              <a:rPr lang="en-US" b="1" dirty="0" smtClean="0"/>
              <a:t>brandished;</a:t>
            </a:r>
            <a:r>
              <a:rPr lang="en-US" dirty="0" smtClean="0"/>
              <a:t> </a:t>
            </a:r>
            <a:r>
              <a:rPr lang="en-US" b="1" dirty="0" smtClean="0"/>
              <a:t>brandishing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to wave or swing (something, such as a weapon) in a threatening or excited manner </a:t>
            </a:r>
            <a:br>
              <a:rPr lang="en-US" dirty="0" smtClean="0"/>
            </a:br>
            <a:r>
              <a:rPr lang="en-US" dirty="0" smtClean="0"/>
              <a:t>▪ She </a:t>
            </a:r>
            <a:r>
              <a:rPr lang="en-US" i="1" dirty="0" smtClean="0"/>
              <a:t>brandished</a:t>
            </a:r>
            <a:r>
              <a:rPr lang="en-US" dirty="0" smtClean="0"/>
              <a:t> a stick at the dog. ▪ I could see that he was </a:t>
            </a:r>
            <a:r>
              <a:rPr lang="en-US" i="1" dirty="0" smtClean="0"/>
              <a:t>brandishing</a:t>
            </a:r>
            <a:r>
              <a:rPr lang="en-US" dirty="0" smtClean="0"/>
              <a:t> a knife.</a:t>
            </a:r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>Lyricism </a:t>
            </a:r>
            <a:r>
              <a:rPr lang="en-US" b="1" dirty="0" smtClean="0"/>
              <a:t>/noun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</a:t>
            </a:r>
            <a:r>
              <a:rPr lang="en-US" i="1" dirty="0" err="1" smtClean="0"/>
              <a:t>noncount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a quality that expresses deep feelings or emotions in a work of art </a:t>
            </a:r>
            <a:r>
              <a:rPr lang="en-US" b="1" dirty="0" smtClean="0"/>
              <a:t>:</a:t>
            </a:r>
            <a:r>
              <a:rPr lang="en-US" dirty="0" smtClean="0"/>
              <a:t> an artistically beautiful or expressive quality </a:t>
            </a:r>
            <a:br>
              <a:rPr lang="en-US" dirty="0" smtClean="0"/>
            </a:br>
            <a:r>
              <a:rPr lang="en-US" dirty="0" smtClean="0"/>
              <a:t>▪ poetic </a:t>
            </a:r>
            <a:r>
              <a:rPr lang="en-US" i="1" dirty="0" smtClean="0"/>
              <a:t>lyricism</a:t>
            </a:r>
            <a:r>
              <a:rPr lang="en-US" dirty="0" smtClean="0"/>
              <a:t> ▪ music rich with </a:t>
            </a:r>
            <a:r>
              <a:rPr lang="en-US" i="1" dirty="0" smtClean="0"/>
              <a:t>lyricism</a:t>
            </a:r>
            <a:r>
              <a:rPr lang="en-US" dirty="0" smtClean="0"/>
              <a:t> ▪ the </a:t>
            </a:r>
            <a:r>
              <a:rPr lang="en-US" i="1" dirty="0" smtClean="0"/>
              <a:t>lyricism</a:t>
            </a:r>
            <a:r>
              <a:rPr lang="en-US" dirty="0" smtClean="0"/>
              <a:t> of his paintings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>Constraint</a:t>
            </a:r>
            <a:r>
              <a:rPr lang="en-US" b="1" dirty="0" smtClean="0"/>
              <a:t>/ noun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>plural</a:t>
            </a:r>
            <a:r>
              <a:rPr lang="en-US" dirty="0" smtClean="0"/>
              <a:t> </a:t>
            </a:r>
            <a:r>
              <a:rPr lang="en-US" b="1" dirty="0" smtClean="0"/>
              <a:t>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1</a:t>
            </a:r>
            <a:r>
              <a:rPr lang="en-US" dirty="0" smtClean="0"/>
              <a:t> [</a:t>
            </a:r>
            <a:r>
              <a:rPr lang="en-US" i="1" dirty="0" smtClean="0"/>
              <a:t>count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something that limits or restricts someone or something </a:t>
            </a:r>
            <a:br>
              <a:rPr lang="en-US" dirty="0" smtClean="0"/>
            </a:br>
            <a:r>
              <a:rPr lang="en-US" dirty="0" smtClean="0"/>
              <a:t>▪ Lack of funding has been a major </a:t>
            </a:r>
            <a:r>
              <a:rPr lang="en-US" i="1" dirty="0" smtClean="0"/>
              <a:t>constraint</a:t>
            </a:r>
            <a:r>
              <a:rPr lang="en-US" dirty="0" smtClean="0"/>
              <a:t> on the building's design. — usually plural ▪ </a:t>
            </a:r>
            <a:r>
              <a:rPr lang="en-US" dirty="0" err="1" smtClean="0"/>
              <a:t>Budget</a:t>
            </a:r>
            <a:r>
              <a:rPr lang="en-US" i="1" dirty="0" err="1" smtClean="0"/>
              <a:t>constraints</a:t>
            </a:r>
            <a:r>
              <a:rPr lang="en-US" dirty="0" smtClean="0"/>
              <a:t> [=</a:t>
            </a:r>
            <a:r>
              <a:rPr lang="en-US" i="1" dirty="0" smtClean="0"/>
              <a:t>restrictions</a:t>
            </a:r>
            <a:r>
              <a:rPr lang="en-US" dirty="0" smtClean="0"/>
              <a:t>] have forced me to revise my travel plans. [=I've changed my travel plans because I do not have enough money] ▪ Because of time </a:t>
            </a:r>
            <a:r>
              <a:rPr lang="en-US" i="1" dirty="0" smtClean="0"/>
              <a:t>constraints</a:t>
            </a:r>
            <a:r>
              <a:rPr lang="en-US" dirty="0" smtClean="0"/>
              <a:t> [=</a:t>
            </a:r>
            <a:r>
              <a:rPr lang="en-US" i="1" dirty="0" smtClean="0"/>
              <a:t>limitations</a:t>
            </a:r>
            <a:r>
              <a:rPr lang="en-US" dirty="0" smtClean="0"/>
              <a:t>], speeches will be limited to five minutes. ▪ Tradition puts/places/imposes </a:t>
            </a:r>
            <a:r>
              <a:rPr lang="en-US" i="1" dirty="0" smtClean="0"/>
              <a:t>constraints</a:t>
            </a:r>
            <a:r>
              <a:rPr lang="en-US" dirty="0" smtClean="0"/>
              <a:t> on [=puts limits on] people and their actions.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[</a:t>
            </a:r>
            <a:r>
              <a:rPr lang="en-US" i="1" dirty="0" err="1" smtClean="0"/>
              <a:t>noncount</a:t>
            </a:r>
            <a:r>
              <a:rPr lang="en-US" dirty="0" smtClean="0"/>
              <a:t>]</a:t>
            </a:r>
            <a:r>
              <a:rPr lang="en-US" b="1" dirty="0" smtClean="0"/>
              <a:t>:</a:t>
            </a:r>
            <a:r>
              <a:rPr lang="en-US" dirty="0" smtClean="0"/>
              <a:t> control that limits or restricts someone's actions or behavior </a:t>
            </a:r>
            <a:br>
              <a:rPr lang="en-US" dirty="0" smtClean="0"/>
            </a:br>
            <a:r>
              <a:rPr lang="en-US" dirty="0" smtClean="0"/>
              <a:t>▪ They demand freedom from </a:t>
            </a:r>
            <a:r>
              <a:rPr lang="en-US" i="1" dirty="0" smtClean="0"/>
              <a:t>constraint</a:t>
            </a:r>
            <a:r>
              <a:rPr lang="en-US" dirty="0" smtClean="0"/>
              <a:t>. ▪ They refuse to work under </a:t>
            </a:r>
            <a:r>
              <a:rPr lang="en-US" i="1" dirty="0" smtClean="0"/>
              <a:t>constraint</a:t>
            </a:r>
            <a:r>
              <a:rPr lang="en-US" dirty="0" smtClean="0"/>
              <a:t> any longer.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>Doctrinaire</a:t>
            </a:r>
            <a:r>
              <a:rPr lang="en-US" b="1" dirty="0" smtClean="0"/>
              <a:t>/ </a:t>
            </a:r>
            <a:r>
              <a:rPr lang="en-US" sz="3100" dirty="0" smtClean="0"/>
              <a:t>adjective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</a:t>
            </a:r>
            <a:r>
              <a:rPr lang="en-US" i="1" dirty="0" smtClean="0"/>
              <a:t>more doctrinaire; most doctrinaire</a:t>
            </a:r>
            <a:r>
              <a:rPr lang="en-US" dirty="0" smtClean="0"/>
              <a:t>] </a:t>
            </a:r>
            <a:r>
              <a:rPr lang="en-US" i="1" dirty="0" smtClean="0"/>
              <a:t>formal + disapproving</a:t>
            </a:r>
            <a:r>
              <a:rPr lang="en-US" dirty="0" smtClean="0"/>
              <a:t> — used to describe a person who has very strong beliefs about what should be done and will not change them or accept other people's opinions ▪ The senator is less </a:t>
            </a:r>
            <a:r>
              <a:rPr lang="en-US" i="1" dirty="0" smtClean="0"/>
              <a:t>doctrinaire</a:t>
            </a:r>
            <a:r>
              <a:rPr lang="en-US" dirty="0" smtClean="0"/>
              <a:t> than generally believed. ▪ a </a:t>
            </a:r>
            <a:r>
              <a:rPr lang="en-US" i="1" dirty="0" smtClean="0"/>
              <a:t>doctrinaire</a:t>
            </a:r>
            <a:r>
              <a:rPr lang="en-US" dirty="0" smtClean="0"/>
              <a:t> conservative/socialist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>Bumpkin</a:t>
            </a:r>
            <a:r>
              <a:rPr lang="en-US" b="1" dirty="0" smtClean="0"/>
              <a:t>/ noun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r>
              <a:rPr lang="en-US" i="1" dirty="0" smtClean="0"/>
              <a:t>plural</a:t>
            </a:r>
            <a:r>
              <a:rPr lang="en-US" dirty="0" smtClean="0"/>
              <a:t> </a:t>
            </a:r>
            <a:r>
              <a:rPr lang="en-US" b="1" dirty="0" smtClean="0"/>
              <a:t>bumpkins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count</a:t>
            </a:r>
            <a:r>
              <a:rPr lang="en-US" dirty="0" smtClean="0"/>
              <a:t>] </a:t>
            </a:r>
            <a:r>
              <a:rPr lang="en-US" i="1" dirty="0" smtClean="0"/>
              <a:t>informal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a person who lives in the country far away from cities and who is regarded as stupid </a:t>
            </a:r>
            <a:br>
              <a:rPr lang="en-US" dirty="0" smtClean="0"/>
            </a:br>
            <a:r>
              <a:rPr lang="en-US" dirty="0" smtClean="0"/>
              <a:t>▪ country </a:t>
            </a:r>
            <a:r>
              <a:rPr lang="en-US" i="1" dirty="0" smtClean="0"/>
              <a:t>bumpkins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>Emulate</a:t>
            </a:r>
            <a:r>
              <a:rPr lang="en-US" b="1" dirty="0" smtClean="0"/>
              <a:t>/</a:t>
            </a:r>
            <a:r>
              <a:rPr lang="en-US" dirty="0" smtClean="0"/>
              <a:t> </a:t>
            </a:r>
            <a:r>
              <a:rPr lang="en-US" b="1" dirty="0" smtClean="0"/>
              <a:t>verb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emulates;</a:t>
            </a:r>
            <a:r>
              <a:rPr lang="en-US" dirty="0" smtClean="0"/>
              <a:t> </a:t>
            </a:r>
            <a:r>
              <a:rPr lang="en-US" b="1" dirty="0" smtClean="0"/>
              <a:t>emulated;</a:t>
            </a:r>
            <a:r>
              <a:rPr lang="en-US" dirty="0" smtClean="0"/>
              <a:t> </a:t>
            </a:r>
            <a:r>
              <a:rPr lang="en-US" b="1" dirty="0" smtClean="0"/>
              <a:t>emulating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b="1" dirty="0" smtClean="0"/>
              <a:t>:</a:t>
            </a:r>
            <a:r>
              <a:rPr lang="en-US" dirty="0" smtClean="0"/>
              <a:t> to try to be like (someone or something you admire) </a:t>
            </a:r>
            <a:br>
              <a:rPr lang="en-US" dirty="0" smtClean="0"/>
            </a:br>
            <a:r>
              <a:rPr lang="en-US" dirty="0" smtClean="0"/>
              <a:t>▪ She grew up </a:t>
            </a:r>
            <a:r>
              <a:rPr lang="en-US" i="1" dirty="0" smtClean="0"/>
              <a:t>emulating</a:t>
            </a:r>
            <a:r>
              <a:rPr lang="en-US" dirty="0" smtClean="0"/>
              <a:t> her sports heroes. ▪ artists </a:t>
            </a:r>
            <a:r>
              <a:rPr lang="en-US" i="1" dirty="0" smtClean="0"/>
              <a:t>emulating</a:t>
            </a:r>
            <a:r>
              <a:rPr lang="en-US" dirty="0" smtClean="0"/>
              <a:t> the style of their teachers</a:t>
            </a:r>
          </a:p>
          <a:p>
            <a:r>
              <a:rPr lang="en-US" b="1" dirty="0" smtClean="0"/>
              <a:t>Emulation </a:t>
            </a:r>
            <a:r>
              <a:rPr lang="en-US" i="1" dirty="0" smtClean="0"/>
              <a:t>noun</a:t>
            </a:r>
            <a:r>
              <a:rPr lang="en-US" dirty="0" smtClean="0"/>
              <a:t> [</a:t>
            </a:r>
            <a:r>
              <a:rPr lang="en-US" i="1" dirty="0" err="1" smtClean="0"/>
              <a:t>noncount</a:t>
            </a:r>
            <a:r>
              <a:rPr lang="en-US" dirty="0" smtClean="0"/>
              <a:t>]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>Submit</a:t>
            </a:r>
            <a:r>
              <a:rPr lang="en-US" b="1" dirty="0" smtClean="0"/>
              <a:t>/</a:t>
            </a:r>
            <a:r>
              <a:rPr lang="en-US" dirty="0" smtClean="0"/>
              <a:t> </a:t>
            </a:r>
            <a:r>
              <a:rPr lang="en-US" b="1" dirty="0" smtClean="0"/>
              <a:t>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submits;</a:t>
            </a:r>
            <a:r>
              <a:rPr lang="en-US" dirty="0" smtClean="0"/>
              <a:t> </a:t>
            </a:r>
            <a:r>
              <a:rPr lang="en-US" b="1" dirty="0" smtClean="0"/>
              <a:t>submitted;</a:t>
            </a:r>
            <a:r>
              <a:rPr lang="en-US" dirty="0" smtClean="0"/>
              <a:t> </a:t>
            </a:r>
            <a:r>
              <a:rPr lang="en-US" b="1" dirty="0" smtClean="0"/>
              <a:t>submitting</a:t>
            </a:r>
            <a:endParaRPr lang="en-US" dirty="0" smtClean="0"/>
          </a:p>
          <a:p>
            <a:r>
              <a:rPr lang="en-US" b="1" dirty="0" smtClean="0"/>
              <a:t>1</a:t>
            </a:r>
            <a:r>
              <a:rPr lang="en-US" dirty="0" smtClean="0"/>
              <a:t> 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</a:t>
            </a:r>
            <a:r>
              <a:rPr lang="en-US" b="1" dirty="0" smtClean="0"/>
              <a:t>:</a:t>
            </a:r>
            <a:r>
              <a:rPr lang="en-US" dirty="0" smtClean="0"/>
              <a:t> to give (a document, proposal, piece of writing, etc.) to someone so that it can be considered or approved </a:t>
            </a:r>
            <a:br>
              <a:rPr lang="en-US" dirty="0" smtClean="0"/>
            </a:br>
            <a:r>
              <a:rPr lang="en-US" dirty="0" smtClean="0"/>
              <a:t>▪ Candidates interested in the position should </a:t>
            </a:r>
            <a:r>
              <a:rPr lang="en-US" i="1" dirty="0" smtClean="0"/>
              <a:t>submit</a:t>
            </a:r>
            <a:r>
              <a:rPr lang="en-US" dirty="0" smtClean="0"/>
              <a:t> their résumés to the Office of Human Resources. ▪ </a:t>
            </a:r>
            <a:r>
              <a:rPr lang="en-US" i="1" dirty="0" smtClean="0"/>
              <a:t>Submit</a:t>
            </a:r>
            <a:r>
              <a:rPr lang="en-US" dirty="0" smtClean="0"/>
              <a:t> your application no later than January 31st. ▪ Requests must be </a:t>
            </a:r>
            <a:r>
              <a:rPr lang="en-US" i="1" dirty="0" smtClean="0"/>
              <a:t>submitted</a:t>
            </a:r>
            <a:r>
              <a:rPr lang="en-US" dirty="0" smtClean="0"/>
              <a:t> in writing. ▪ Photographs </a:t>
            </a:r>
            <a:r>
              <a:rPr lang="en-US" i="1" dirty="0" smtClean="0"/>
              <a:t>submitted</a:t>
            </a:r>
            <a:r>
              <a:rPr lang="en-US" dirty="0" smtClean="0"/>
              <a:t> for publication will not be returned.</a:t>
            </a:r>
          </a:p>
          <a:p>
            <a:r>
              <a:rPr lang="en-US" b="1" dirty="0" smtClean="0"/>
              <a:t>2</a:t>
            </a:r>
            <a:r>
              <a:rPr lang="en-US" dirty="0" smtClean="0"/>
              <a:t> [</a:t>
            </a:r>
            <a:r>
              <a:rPr lang="en-US" i="1" dirty="0" smtClean="0"/>
              <a:t>no </a:t>
            </a:r>
            <a:r>
              <a:rPr lang="en-US" i="1" dirty="0" err="1" smtClean="0"/>
              <a:t>obj</a:t>
            </a:r>
            <a:r>
              <a:rPr lang="en-US" dirty="0" smtClean="0"/>
              <a:t>]</a:t>
            </a:r>
            <a:r>
              <a:rPr lang="en-US" b="1" dirty="0" smtClean="0"/>
              <a:t>:</a:t>
            </a:r>
            <a:r>
              <a:rPr lang="en-US" dirty="0" smtClean="0"/>
              <a:t> to stop trying to fight or resist something </a:t>
            </a:r>
            <a:r>
              <a:rPr lang="en-US" b="1" dirty="0" smtClean="0"/>
              <a:t>:</a:t>
            </a:r>
            <a:r>
              <a:rPr lang="en-US" dirty="0" smtClean="0"/>
              <a:t> to agree to do or accept something that you have been resisting or opposing </a:t>
            </a:r>
            <a:br>
              <a:rPr lang="en-US" dirty="0" smtClean="0"/>
            </a:br>
            <a:r>
              <a:rPr lang="en-US" dirty="0" smtClean="0"/>
              <a:t>▪ He vowed that he would never </a:t>
            </a:r>
            <a:r>
              <a:rPr lang="en-US" i="1" dirty="0" smtClean="0"/>
              <a:t>submit</a:t>
            </a:r>
            <a:r>
              <a:rPr lang="en-US" dirty="0" smtClean="0"/>
              <a:t>. [=</a:t>
            </a:r>
            <a:r>
              <a:rPr lang="en-US" i="1" dirty="0" smtClean="0"/>
              <a:t>give in</a:t>
            </a:r>
            <a:r>
              <a:rPr lang="en-US" dirty="0" smtClean="0"/>
              <a:t>] — often + </a:t>
            </a:r>
            <a:r>
              <a:rPr lang="en-US" i="1" dirty="0" smtClean="0"/>
              <a:t>to</a:t>
            </a:r>
            <a:r>
              <a:rPr lang="en-US" dirty="0" smtClean="0"/>
              <a:t> ▪ He refused to </a:t>
            </a:r>
            <a:r>
              <a:rPr lang="en-US" i="1" dirty="0" smtClean="0"/>
              <a:t>submit to</a:t>
            </a:r>
            <a:r>
              <a:rPr lang="en-US" dirty="0" smtClean="0"/>
              <a:t> their demands. ▪ We will not </a:t>
            </a:r>
            <a:r>
              <a:rPr lang="en-US" i="1" dirty="0" smtClean="0"/>
              <a:t>submit to</a:t>
            </a:r>
            <a:r>
              <a:rPr lang="en-US" dirty="0" smtClean="0"/>
              <a:t> you without a fight. ▪ Public outcry caused him to </a:t>
            </a:r>
            <a:r>
              <a:rPr lang="en-US" i="1" dirty="0" smtClean="0"/>
              <a:t>submit to</a:t>
            </a:r>
            <a:r>
              <a:rPr lang="en-US" dirty="0" smtClean="0"/>
              <a:t> an investigation of his finances.</a:t>
            </a:r>
          </a:p>
          <a:p>
            <a:r>
              <a:rPr lang="en-US" b="1" dirty="0" smtClean="0"/>
              <a:t>3</a:t>
            </a:r>
            <a:r>
              <a:rPr lang="en-US" dirty="0" smtClean="0"/>
              <a:t> 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i="1" dirty="0" smtClean="0"/>
              <a:t>formal</a:t>
            </a:r>
            <a:r>
              <a:rPr lang="en-US" b="1" dirty="0" smtClean="0"/>
              <a:t>:</a:t>
            </a:r>
            <a:r>
              <a:rPr lang="en-US" dirty="0" smtClean="0"/>
              <a:t> to offer (something) as an opinion or suggestion — often + </a:t>
            </a:r>
            <a:r>
              <a:rPr lang="en-US" i="1" dirty="0" smtClean="0"/>
              <a:t>that</a:t>
            </a:r>
            <a:r>
              <a:rPr lang="en-US" dirty="0" smtClean="0"/>
              <a:t> ▪ I </a:t>
            </a:r>
            <a:r>
              <a:rPr lang="en-US" i="1" dirty="0" smtClean="0"/>
              <a:t>submit that</a:t>
            </a:r>
            <a:r>
              <a:rPr lang="en-US" dirty="0" smtClean="0"/>
              <a:t> his guilt has not been proven.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/>
            </a:r>
            <a:br>
              <a:rPr lang="en-US" sz="7300" b="1" dirty="0" smtClean="0"/>
            </a:br>
            <a:r>
              <a:rPr lang="en-US" sz="7300" b="1" dirty="0" smtClean="0"/>
              <a:t>Exonerate</a:t>
            </a:r>
            <a:r>
              <a:rPr lang="en-US" b="1" dirty="0" smtClean="0"/>
              <a:t>/ verb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exonerates;</a:t>
            </a:r>
            <a:r>
              <a:rPr lang="en-US" dirty="0" smtClean="0"/>
              <a:t> </a:t>
            </a:r>
            <a:r>
              <a:rPr lang="en-US" b="1" dirty="0" smtClean="0"/>
              <a:t>exonerated;</a:t>
            </a:r>
            <a:r>
              <a:rPr lang="en-US" dirty="0" smtClean="0"/>
              <a:t> </a:t>
            </a:r>
            <a:r>
              <a:rPr lang="en-US" b="1" dirty="0" smtClean="0"/>
              <a:t>exonerating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i="1" dirty="0" smtClean="0"/>
              <a:t>+ </a:t>
            </a:r>
            <a:r>
              <a:rPr lang="en-US" i="1" dirty="0" err="1" smtClean="0"/>
              <a:t>obj</a:t>
            </a:r>
            <a:r>
              <a:rPr lang="en-US" dirty="0" smtClean="0"/>
              <a:t>] </a:t>
            </a:r>
            <a:r>
              <a:rPr lang="en-US" i="1" dirty="0" smtClean="0"/>
              <a:t>formal</a:t>
            </a:r>
            <a:r>
              <a:rPr lang="en-US" dirty="0" smtClean="0"/>
              <a:t> </a:t>
            </a:r>
            <a:r>
              <a:rPr lang="en-US" b="1" dirty="0" smtClean="0"/>
              <a:t>:</a:t>
            </a:r>
            <a:r>
              <a:rPr lang="en-US" dirty="0" smtClean="0"/>
              <a:t> to prove that someone is not guilty of a crime or responsible for a problem, bad situation, etc. </a:t>
            </a:r>
            <a:br>
              <a:rPr lang="en-US" dirty="0" smtClean="0"/>
            </a:br>
            <a:r>
              <a:rPr lang="en-US" dirty="0" smtClean="0"/>
              <a:t>▪ Her attorney claims that this new evidence will </a:t>
            </a:r>
            <a:r>
              <a:rPr lang="en-US" i="1" dirty="0" smtClean="0"/>
              <a:t>exonerate</a:t>
            </a:r>
            <a:r>
              <a:rPr lang="en-US" dirty="0" smtClean="0"/>
              <a:t> [=</a:t>
            </a:r>
            <a:r>
              <a:rPr lang="en-US" i="1" dirty="0" smtClean="0"/>
              <a:t>clear</a:t>
            </a:r>
            <a:r>
              <a:rPr lang="en-US" dirty="0" smtClean="0"/>
              <a:t>] the defendant completely. —sometimes + </a:t>
            </a:r>
            <a:r>
              <a:rPr lang="en-US" i="1" dirty="0" smtClean="0"/>
              <a:t>of</a:t>
            </a:r>
            <a:r>
              <a:rPr lang="en-US" dirty="0" smtClean="0"/>
              <a:t> or </a:t>
            </a:r>
            <a:r>
              <a:rPr lang="en-US" i="1" dirty="0" smtClean="0"/>
              <a:t>from</a:t>
            </a:r>
            <a:r>
              <a:rPr lang="en-US" dirty="0" smtClean="0"/>
              <a:t> ▪ evidence that will </a:t>
            </a:r>
            <a:r>
              <a:rPr lang="en-US" i="1" dirty="0" smtClean="0"/>
              <a:t>exonerate</a:t>
            </a:r>
            <a:r>
              <a:rPr lang="en-US" dirty="0" smtClean="0"/>
              <a:t> her </a:t>
            </a:r>
            <a:r>
              <a:rPr lang="en-US" i="1" dirty="0" smtClean="0"/>
              <a:t>of/from</a:t>
            </a:r>
            <a:r>
              <a:rPr lang="en-US" dirty="0" smtClean="0"/>
              <a:t> the charges</a:t>
            </a:r>
          </a:p>
          <a:p>
            <a:r>
              <a:rPr lang="en-US" b="1" dirty="0" smtClean="0"/>
              <a:t> Exoneration</a:t>
            </a:r>
            <a:r>
              <a:rPr lang="en-US" dirty="0" smtClean="0"/>
              <a:t> </a:t>
            </a:r>
            <a:r>
              <a:rPr lang="en-US" i="1" dirty="0" smtClean="0"/>
              <a:t>noun</a:t>
            </a:r>
            <a:r>
              <a:rPr lang="en-US" dirty="0" smtClean="0"/>
              <a:t> [</a:t>
            </a:r>
            <a:r>
              <a:rPr lang="en-US" i="1" dirty="0" err="1" smtClean="0"/>
              <a:t>noncount</a:t>
            </a:r>
            <a:r>
              <a:rPr lang="en-US" dirty="0" smtClean="0"/>
              <a:t>] </a:t>
            </a:r>
            <a:br>
              <a:rPr lang="en-US" dirty="0" smtClean="0"/>
            </a:br>
            <a:r>
              <a:rPr lang="en-US" dirty="0" smtClean="0"/>
              <a:t>▪ A review of the evidence led to her complete </a:t>
            </a:r>
            <a:r>
              <a:rPr lang="en-US" i="1" dirty="0" smtClean="0"/>
              <a:t>exoneration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Rococo </a:t>
            </a:r>
            <a:br>
              <a:rPr lang="en-US" sz="7200" dirty="0" smtClean="0"/>
            </a:b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:</a:t>
            </a:r>
            <a:r>
              <a:rPr lang="en-US" dirty="0" smtClean="0"/>
              <a:t> of or relating to a style of artistic expression that involves fancy curved forms and much decoration and was popular in the 18th century </a:t>
            </a:r>
          </a:p>
          <a:p>
            <a:r>
              <a:rPr lang="en-US" dirty="0" smtClean="0"/>
              <a:t>▪ The chairs are carved in a </a:t>
            </a:r>
            <a:r>
              <a:rPr lang="en-US" i="1" dirty="0" smtClean="0"/>
              <a:t>rococo</a:t>
            </a:r>
            <a:r>
              <a:rPr lang="en-US" dirty="0" smtClean="0"/>
              <a:t> style. ▪ </a:t>
            </a:r>
            <a:r>
              <a:rPr lang="en-US" i="1" dirty="0" smtClean="0"/>
              <a:t>rococo</a:t>
            </a:r>
            <a:r>
              <a:rPr lang="en-US" dirty="0" smtClean="0"/>
              <a:t> art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2000">
    <p:wheel spokes="2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90</TotalTime>
  <Words>110</Words>
  <Application>Microsoft Office PowerPoint</Application>
  <PresentationFormat>On-screen Show (4:3)</PresentationFormat>
  <Paragraphs>121</Paragraphs>
  <Slides>70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Verve</vt:lpstr>
      <vt:lpstr>Credibility / noun</vt:lpstr>
      <vt:lpstr>Slide 2</vt:lpstr>
      <vt:lpstr>    invective / noun </vt:lpstr>
      <vt:lpstr>Slide 4</vt:lpstr>
      <vt:lpstr>    Outrage / noun plural outrages  </vt:lpstr>
      <vt:lpstr>Slide 6</vt:lpstr>
      <vt:lpstr>     Empathy / noun </vt:lpstr>
      <vt:lpstr>Slide 8</vt:lpstr>
      <vt:lpstr>    Prototype / noun  </vt:lpstr>
      <vt:lpstr>plural prototypes</vt:lpstr>
      <vt:lpstr>    Disclaimer  / noun plural disclaimers</vt:lpstr>
      <vt:lpstr>Slide 12</vt:lpstr>
      <vt:lpstr>    Catharsis / noun </vt:lpstr>
      <vt:lpstr>postulates; postulated; postulating </vt:lpstr>
      <vt:lpstr>   Postulate / verb </vt:lpstr>
      <vt:lpstr>Slide 16</vt:lpstr>
      <vt:lpstr>  overt / adjective </vt:lpstr>
      <vt:lpstr>Slide 18</vt:lpstr>
      <vt:lpstr>     Invalidate / verb </vt:lpstr>
      <vt:lpstr>Slide 20</vt:lpstr>
      <vt:lpstr>    Contest / verb </vt:lpstr>
      <vt:lpstr>Slide 22</vt:lpstr>
      <vt:lpstr>   Mock / verb </vt:lpstr>
      <vt:lpstr>Slide 24</vt:lpstr>
      <vt:lpstr>        Articulate / adjective </vt:lpstr>
      <vt:lpstr>Slide 26</vt:lpstr>
      <vt:lpstr>     Promulgate / verb </vt:lpstr>
      <vt:lpstr>Slide 28</vt:lpstr>
      <vt:lpstr>    Abeyance / noun </vt:lpstr>
      <vt:lpstr>Slide 30</vt:lpstr>
      <vt:lpstr>     Notarize also Brit  notarise / verb </vt:lpstr>
      <vt:lpstr>Slide 32</vt:lpstr>
      <vt:lpstr>    Suspend / verb </vt:lpstr>
      <vt:lpstr>Slide 34</vt:lpstr>
      <vt:lpstr>      Academic / adjective </vt:lpstr>
      <vt:lpstr>Slide 36</vt:lpstr>
      <vt:lpstr>    Flimsy / adjective </vt:lpstr>
      <vt:lpstr>Slide 38</vt:lpstr>
      <vt:lpstr>    Demonstrable / adjective </vt:lpstr>
      <vt:lpstr>Slide 40</vt:lpstr>
      <vt:lpstr>     Ineluctable / adjective </vt:lpstr>
      <vt:lpstr>Slide 42</vt:lpstr>
      <vt:lpstr>    Elusive / adjective </vt:lpstr>
      <vt:lpstr>Slide 44</vt:lpstr>
      <vt:lpstr>     Analogous / adjective </vt:lpstr>
      <vt:lpstr>Slide 46</vt:lpstr>
      <vt:lpstr>     Overblown  / adjective</vt:lpstr>
      <vt:lpstr>Slide 48</vt:lpstr>
      <vt:lpstr>      Disentangle/ verb </vt:lpstr>
      <vt:lpstr>Slide 50</vt:lpstr>
      <vt:lpstr>    Skein  / noun </vt:lpstr>
      <vt:lpstr>Slide 52</vt:lpstr>
      <vt:lpstr>       Brandish / verb </vt:lpstr>
      <vt:lpstr>Slide 54</vt:lpstr>
      <vt:lpstr>    Lyricism /noun </vt:lpstr>
      <vt:lpstr>Slide 56</vt:lpstr>
      <vt:lpstr>    Constraint/ noun plural constraints</vt:lpstr>
      <vt:lpstr>Slide 58</vt:lpstr>
      <vt:lpstr>      Doctrinaire/ adjective </vt:lpstr>
      <vt:lpstr>Slide 60</vt:lpstr>
      <vt:lpstr>     Bumpkin/ noun </vt:lpstr>
      <vt:lpstr>Slide 62</vt:lpstr>
      <vt:lpstr>    Emulate/ verb</vt:lpstr>
      <vt:lpstr>Slide 64</vt:lpstr>
      <vt:lpstr>     Submit/ verb </vt:lpstr>
      <vt:lpstr>Slide 66</vt:lpstr>
      <vt:lpstr>     Exonerate/ verb </vt:lpstr>
      <vt:lpstr>Slide 68</vt:lpstr>
      <vt:lpstr>     Rococo  </vt:lpstr>
      <vt:lpstr>Slide 70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Credibility / noun</dc:title>
  <dc:creator>John</dc:creator>
  <cp:lastModifiedBy>user</cp:lastModifiedBy>
  <cp:revision>119</cp:revision>
  <dcterms:created xsi:type="dcterms:W3CDTF">2013-07-28T11:59:58Z</dcterms:created>
  <dcterms:modified xsi:type="dcterms:W3CDTF">2017-03-22T07:40:29Z</dcterms:modified>
</cp:coreProperties>
</file>